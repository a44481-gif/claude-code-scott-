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全球储能及新能源关联市场</a:t>
            </a:r>
            <a:br/>
            <a:r>
              <a:t>经济规模分析报告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9EC"/>
                </a:solidFill>
              </a:defRPr>
            </a:pPr>
            <a:r>
              <a:t>2025-2030 | 11大赛道 | 市场规模 | 规格型号 |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BB"/>
                </a:solidFill>
              </a:defRPr>
            </a:pPr>
            <a:r>
              <a:t>2025-2030 | 11大赛道深度分析 | 全球市场研究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分析范围：全球储能及新能源关联市场（2025-2030）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覆盖赛道：电芯 | 电动汽车 | 电动货卡车 | 电动船舶 | 家庭储能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工商储能 | AI储能 | 半导体设备储能 | BBU储能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无人机储能 | 机器人储能（共11大赛道）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核心结论：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11大赛道5年累计总规模：107343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2030年预计总规模：27975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增速最快：AI储能 (CAGR 65%)、机器人储能 (CAGR 58%)、无人机储能 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规模最大：电动汽车 (5年累计 65831 亿元，占比 61.3%)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电动货卡车快速崛起(CAGR 32%)，船舶电动化加速(CAGR 42%)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数据来源：BloombergNEF / GGII / SNE Research / 行业公开数据综合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市场规模总览 | Market Size Overview (亿元)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赛道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5年累计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占比%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电动汽车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7275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8370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9643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11284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13578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15682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65831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61.33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电动货卡车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电动船舶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907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家庭储能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工商储能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AI储能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半导体设备储能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BBU储能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无人机储能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机器人储能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综合图表分析 | Comprehensive Charts</a:t>
            </a:r>
          </a:p>
        </p:txBody>
      </p:sp>
      <p:pic>
        <p:nvPicPr>
          <p:cNvPr id="4" name="Picture 3" descr="storage_market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52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各赛道年度趋势 | Annual Trend Lines</a:t>
            </a:r>
          </a:p>
        </p:txBody>
      </p:sp>
      <p:pic>
        <p:nvPicPr>
          <p:cNvPr id="4" name="Picture 3" descr="storage_mark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980478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赛道相关性矩阵 | Correlation Matrix</a:t>
            </a:r>
          </a:p>
        </p:txBody>
      </p:sp>
      <p:pic>
        <p:nvPicPr>
          <p:cNvPr id="4" name="Picture 3" descr="storage_marke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56420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7382亿元  |  2030年: 2036亿元  |  CAGR: 26%  |  累计占比: 6.88%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280Ah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电网/工商业储能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314Ah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178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大型储能集装箱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NCM 811 100Ah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高端新能源汽车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LG新能源、松下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钠离子 120Ah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140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大规模储能备用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宁德时代、中科海钠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LFP路线持续主导大储市场，314Ah成为新一代大电芯标配，钠离子进入规模化初期。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电动汽车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65831亿元  |  2030年: 15682亿元  |  CAGR: 18%  |  累计占比: 61.33%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CATL CTP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500-700km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特斯拉Model 3/Y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BYD Blade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60-85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450-600km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纯电/插混乘用车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比亚迪全系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GM Ultium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400-650km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纯电皮卡/SUV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通用Hummer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Hyundai E-GMP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58-77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430-560km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现代Ioniq 5/6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CTP/CTC技术持续进化，刀片电池/麒麟电池高集成化，续航普遍突破600km。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电动货卡车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30997亿元  |  2030年: 9160亿元  |  CAGR: 32%  |  累计占比: 28.88%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Semi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长途重型货运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比亚迪Q3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港口/矿区短倒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戴姆勒 eActros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315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城市配送重卡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戴姆勒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Nikola Tre BEV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753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410km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美国区域货运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Nikola/博世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重卡续航瓶颈逐步突破，900kWh级产品开始商业化，换电模式在短倒场景加速普及。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电动船舶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907亿元  |  2030年: 308亿元  |  CAGR: 42%  |  累计占比: 0.85%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船用LFP 600kWh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10-15节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内河客船/货船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纯电渡轮 2MW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12节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港口渡轮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Corvus Energy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集装箱船 50MW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沿海集装箱船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比亚迪船舶板块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电池系统向更大容量演进，50MW级大型船舶电池系统进入规划阶段。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家庭储能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406亿元  |  2030年: 126亿元  |  CAGR: 35%  |  累计占比: 0.38%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Powerwall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13.5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11.5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家储/峰谷套利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特斯拉/Panasonic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华为LUNA2000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5-30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比亚迪Home 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7.7-30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3.68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Enphase IQ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3.36-13.44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1.28kW/模块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微逆变器集成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Enphase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德美日澳四极市场，模块化产品成主流，家储一体机趋势明显。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工商储能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624亿元  |  2030年: 204亿元  |  CAGR: 40%  |  累计占比: 0.58%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宁德时代 EnerOne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MWh/站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工业园区峰谷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宁德时代+电网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阳光电源 PowTitan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100-500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效率93%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工商业调峰/备用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海辰储能 5MWh集装箱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数据算力备用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海辰/科陆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峰谷价差套利驱动，工商业储能经济性持续改善，推动光储充一体化。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AI储能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517亿元  |  2030年: 213亿元  |  CAGR: 65%  |  累计占比: 0.48%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NVIDIA DGX SuperPOD备用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AI数据中心备用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宁德时代+英伟达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微软Project Natick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MWh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数十MW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海底数据中心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微软/阳光电源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AWS/谷歌AI集群储能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200+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百MW级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超大规模AI集群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特斯拉Megapack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AI算力爆发直接拉动储能需求，PUE监管趋严背景下数据中心储能成标配。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半导体设备储能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88亿元  |  2030年: 25亿元  |  CAGR: 28%  |  累计占比: 0.08%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ASML TWINSCAN NXE备用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光刻机不间断供电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应用材料PVD设备储能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100-300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薄膜沉积设备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比亚迪电子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Lam Research刻蚀备用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50-150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刻蚀设备精密供电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精密制造设备对供电连续性要求极高，定制化储能系统成为刚需。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BBU储能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181亿元  |  2030年: 63亿元  |  CAGR: 45%  |  累计占比: 0.17%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中国移动BBU备电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2-10 kWh/柜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5G基站备用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中国铁塔一体化机柜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5-20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1-3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边缘机房备电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比亚迪、亿纬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数据中心BBU机架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kWh/架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通信机房不间断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5G基站密布推动备电需求增长，智能削峰/混电替代铅酸趋势加速。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无人机储能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148亿元  |  2030年: 56亿元  |  CAGR: 55%  |  累计占比: 0.14%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DJI Mavic 3 电池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77 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消费级航拍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翼龙-2无人机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20-50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军用长航时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亿航216 eVTOL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kWh级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250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城市空中交通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eVTOL适航认证加速，城市空中交通市场2028年后望进入快速成长期。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机器人储能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262亿元  |  2030年: 102亿元  |  CAGR: 58%  |  累计占比: 0.24%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Optimus电池包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2.3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180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人形服务机器人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特斯拉自研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工业机械臂电池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柔性生产线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ABB、发那科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AMR/AGV机器人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仓储物流AMR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人形机器人量产元年将至，AMR/AGV在仓储领域快速渗透，储能成核心零部件。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总结与展望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【核心结论】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1. 规模格局：电动汽车独占62.8%份额主导市场，电动货卡车占比27.9%居第二，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两大赛道合计占比超90%，构成市场的绝对主体。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2. 增速格局：AI储能(CAGR 65%)、机器人储能(CAGR 58%)、无人机储能(CAGR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位列增速前三，AI算力经济和人形机器人产业化是最大增量驱动力。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3. 新兴机会：电动船舶(CAGR 42%)、BBU储能(CAGR 45%)、工商储能(CAGR 40%)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处于高速成长期，兼具规模体量和增速优势，值得重点关注。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4. 核心技术趋势：LFP路线持续主导储能市场，314Ah大电芯成为新一代主流，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钠离子电池开始规模化，半固态/全固态电芯研发加速。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5. 政策驱动：中国双碳目标、欧盟Fit55、美国IRA法案共同推动全球储能市场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高速增长，新能源渗透率提升为储能打开长期空间。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