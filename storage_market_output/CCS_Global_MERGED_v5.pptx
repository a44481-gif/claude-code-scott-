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CCS集成母排 × 全球储能市场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D700"/>
                </a:solidFill>
              </a:defRPr>
            </a:pPr>
            <a:r>
              <a:t>综合分析报告 2025-2030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9EC"/>
                </a:solidFill>
              </a:defRPr>
            </a:pPr>
            <a:r>
              <a:t>CCS集成母排与线束技术整合市场分析报告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AACC"/>
                </a:solidFill>
              </a:defRPr>
            </a:pPr>
            <a:r>
              <a:t>全球储能及新能源关联市场经济规模分析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788AA"/>
                </a:solidFill>
              </a:defRPr>
            </a:pPr>
            <a:r>
              <a:t>2026年4月  |  内部研究资料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CCS集成母排与线束技术整合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市场分析报告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CCS集成母排与线束技术整合市场分析报告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3105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508000" y="330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储能与AI电源市场的“双轮驱动”增长引擎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96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2024年市场深度洞察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1524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588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187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市场概述：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技术与市场的融合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2832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稳健增长的基本盘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784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AI电源市场：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爆发式增长的蓝海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4737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14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中国市场：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全球发展的核心引擎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1879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技术路线：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主流方案与趋势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2832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竞争格局：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主要参与者分析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3784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投资机会：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04000" y="47371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048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 总结与致谢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100000">
                <a:srgbClr val="0A1428">
                  <a:alpha val="7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81000" y="2032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spc="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2540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市场概述：技术与市场的融合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CCS集成母排与线束技术深度解析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318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CCS集成母排与线束技术：核心连接部件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460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什么是CCS？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电芯连接系统(CCS)是将电芯连接、信号采集、绝缘防护等功能整合的模块化组件，是连接电芯与BMS的关键桥梁。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6096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2730500"/>
            <a:ext cx="584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核心技术优势</a:t>
            </a:r>
            <a:endParaRPr lang="en-US" sz="1100"/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高集成度：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整合分散功能，大幅减少零部件数量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轻量化与空间优化：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相比传统线束减重显著，提升电池包能量密度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高可靠性：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减少连接点与故障风险，简化装配流程降低成本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4635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对比传统线束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通过一体化设计，有效解决了传统线束易老化、故障率高、占用空间大等痛点，是电池系统的未来主流方向。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1651000"/>
            <a:ext cx="3556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70" b="170"/>
          <a:stretch>
            <a:fillRect/>
          </a:stretch>
        </p:blipFill>
        <p:spPr>
          <a:xfrm>
            <a:off x="7937500" y="1879600"/>
            <a:ext cx="2667000" cy="3086100"/>
          </a:xfrm>
          <a:prstGeom prst="roundRect">
            <a:avLst>
              <a:gd name="adj" fmla="val 476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493000" y="533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CCS集成母排结构示意图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“双轮驱动”下的市场规模总览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16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651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CCS集成母排与线束技术在储能和AI电源市场应用高速增长，预计2030年合计规模达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206-328亿元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，成为继新能源汽车后的核心增长引擎。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667000"/>
            <a:ext cx="10668000" cy="279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81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AI电源市场增速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超30% 复合增长率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5816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储能市场主导地位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占比超 70% 份额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5816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 市场天花板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突破 300 亿元大关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400">
                <a:solidFill>
                  <a:srgbClr val="00BFFF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794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储能市场：稳健增长的基本盘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622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ENERGY STORAGE MARKET ANALYSIS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" y="5080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77600" y="508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储能市场规模：稳健增长，前景广阔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222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储能市场是CCS技术应用的基本盘，预计2030年规模达116-198亿元，年复合增长率(CAGR)超25%。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45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市场渗透率提升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873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随着技术成熟与成本下降，CCS技术在储能市场的渗透率将持续攀升，预计2030年将超过90%。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8080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778000"/>
            <a:ext cx="4826000" cy="279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20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08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20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储能市场正处于爆发前夜，CCS技术凭借其在效率与成本上的优势，将成为推动市场规模翻倍增长的关键驱动力。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核心驱动：装机量爆发与技术替代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30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全球新型储能装机量激增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311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能源转型加速推动装机量快速增长，预计2030年突破500GWh/年，为CCS技术提供巨大市场需求。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909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CCS技术全面替代传统线束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719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在集成度、可靠性、安全性及成本上优势显著，正快速替代传统方案，成为储能系统首选。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51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技术路线主流化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32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低成本的FFC/FDC技术路线将成为主流，预计占比约60%，进一步推动市场规模扩大。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2286000"/>
            <a:ext cx="3810000" cy="2286000"/>
          </a:xfrm>
          <a:prstGeom prst="roundRect">
            <a:avLst>
              <a:gd name="adj" fmla="val 5555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l="235" r="235"/>
          <a:stretch>
            <a:fillRect/>
          </a:stretch>
        </p:blipFill>
        <p:spPr>
          <a:xfrm>
            <a:off x="7239000" y="2425700"/>
            <a:ext cx="3556000" cy="2006600"/>
          </a:xfrm>
          <a:prstGeom prst="roundRect">
            <a:avLst>
              <a:gd name="adj" fmla="val 632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112000" y="469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大型储能电站实景航拍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主要应用场景：多元化布局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716" r="716"/>
          <a:stretch>
            <a:fillRect/>
          </a:stretch>
        </p:blipFill>
        <p:spPr>
          <a:xfrm>
            <a:off x="1016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16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电网侧储能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用于电网的调频、调峰和备用电源，保障电网稳定运行，提升能源利用效率。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2463" r="2463"/>
          <a:stretch>
            <a:fillRect/>
          </a:stretch>
        </p:blipFill>
        <p:spPr>
          <a:xfrm>
            <a:off x="4699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699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工商业储能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帮助工商业用户实现峰谷套利、需量管理，有效降低企业用电成本，增强供电自主性。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20454" b="20454"/>
          <a:stretch>
            <a:fillRect/>
          </a:stretch>
        </p:blipFill>
        <p:spPr>
          <a:xfrm>
            <a:off x="8382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382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户用储能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为家庭提供能源管理和应急供电解决方案，优化家庭用电结构，保障断电时的基本生活需求。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50000">
                <a:srgbClr val="0A1428">
                  <a:alpha val="60000"/>
                </a:srgbClr>
              </a:gs>
              <a:gs pos="100000">
                <a:srgbClr val="0A1428">
                  <a:alpha val="8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177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CHAPTER 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14600" y="2413000"/>
            <a:ext cx="716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AI电源市场：爆发式增长的蓝海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聚焦高功率密度与高效能需求，开启能源管理新篇章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19800" y="5715000"/>
            <a:ext cx="152400" cy="152400"/>
          </a:xfrm>
          <a:prstGeom prst="roundRect">
            <a:avLst>
              <a:gd name="adj" fmla="val 0"/>
            </a:avLst>
          </a:prstGeom>
          <a:solidFill>
            <a:srgbClr val="00B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AI电源市场规模：爆发式增长的新蓝海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AI电源市场是CCS技术应用的新兴蓝海。预计到2030年，全球市场规模将达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90-130亿元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，年复合增长率（CAGR）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超40%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708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市场渗透率趋势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随着AI算力需求爆发，CCS技术渗透率将快速提升。预计到2030年，在AI电源市场的渗透率将达到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85%-90%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651000"/>
            <a:ext cx="5207000" cy="3556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90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数据来源：行业研究报告及市场分析预测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核心驱动：算力爆发与技术升级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AI算力需求爆发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286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2030年全球AI服务器出货量将超1000万台，对电源系统的需求呈指数级增长。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800V HVDC架构普及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46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为提升能效，800V高压直流架构快速普及，CCS技术是满足其高压、高密、低阻要求的唯一解。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2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液冷技术普及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07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AI数据中心液冷渗透率提升，对电源集成度要求更高，CCS技术完美适配这一趋势。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778000"/>
            <a:ext cx="4572000" cy="2603500"/>
          </a:xfrm>
          <a:prstGeom prst="roundRect">
            <a:avLst>
              <a:gd name="adj" fmla="val 4878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171" b="171"/>
          <a:stretch>
            <a:fillRect/>
          </a:stretch>
        </p:blipFill>
        <p:spPr>
          <a:xfrm>
            <a:off x="6477000" y="1866900"/>
            <a:ext cx="4318000" cy="2413000"/>
          </a:xfrm>
          <a:prstGeom prst="roundRect">
            <a:avLst>
              <a:gd name="adj" fmla="val 526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350000" y="450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▲ 现代化AI数据中心基础设施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5016500"/>
            <a:ext cx="4572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5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5143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电源系统作为数据中心的“心脏”，其稳定性直接决定算力产出效率。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主要应用场景：AI算力基础设施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6666" r="16666"/>
          <a:stretch>
            <a:fillRect/>
          </a:stretch>
        </p:blipFill>
        <p:spPr>
          <a:xfrm>
            <a:off x="1651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68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AI服务器BBU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即电池备份单元，确保AI服务器在断电情况下仍能不间断运行，是数据中心稳定运行的关键。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 l="27064" r="27064"/>
          <a:stretch>
            <a:fillRect/>
          </a:stretch>
        </p:blipFill>
        <p:spPr>
          <a:xfrm>
            <a:off x="5334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5500" y="368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智算中心储能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为智算中心配套储能系统，实现削峰填谷和应急供电，降低运营成本。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17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高压配电系统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应用于800V HVDC配电系统，提升能效，降低线路损耗。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高价值赛道：单价与毛利率对比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AI电源市场不仅增长迅速，更是一个高价值的赛道。通过对比可以发现，AI电源CCS产品的单价和毛利率均显著高于储能、车规级及传统市场。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413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单价区间（元/kWh）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毛利率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AI电源定制化CCS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80-180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35%-45%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20-30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22%-28%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车规级CCS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30-50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25%-30%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传统分散式线束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10-15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12%-20%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2159000"/>
            <a:ext cx="12192000" cy="2540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F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65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spc="400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286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5400000" algn="tl" rotWithShape="0">
              <a:srgbClr val="00BFFF">
                <a:alpha val="6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中国市场：全球发展的核心引擎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聚焦中国在 CCS 技术领域的战略地位与增长潜力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19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1061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中国市场：全球CCS技术发展的核心推动力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庞大的市场规模潜力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59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作为全球最大储能市场和AI算力核心区，预计2030年市场规模将突破200亿元人民币。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主导全球市场份额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预计占据全球储能与AI电源CCS市场份额的65%-70%，是全球技术发展的核心引擎。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69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完整的供应链集群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5080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从原材料到设备制造再到应用市场，形成了强大的全产业链优势，保障技术快速迭代。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905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032000"/>
            <a:ext cx="4572000" cy="279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技术路线与竞争格局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TECHNICAL ROUTES &amp; COMPETITIVE LANDSCAPE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主流技术路线：成本与性能的平衡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不同的应用场景对CCS技术提出了不同的要求，市场上形成了多种主流技术路线，以平衡成本与性能。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905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技术路线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主要特点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主要应用场景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FFC/FDC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成本低，工艺简单，适合大规模应用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储能市场（占比约60%）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高压FPC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适配高压、高密需求，性能更高，可靠性好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AI电源市场、高端储能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传统线束型CCS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技术成熟，成本低，但集成度低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部分低端储能场景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主要竞争参与者：国内外企业同台竞技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国际领先企业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泰科电子 (TE Connectivity)、安波福 (Aptiv)、莫仕 (Molex) 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凭借深厚的技术积累、成熟的供应链体系和强大的品牌影响力，长期占据全球高端市场主导地位。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62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国内崛起力量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中航光电、瑞可达、巴斯巴、卡倍亿等。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依托本土产业链的成本优势和快速响应能力，在国内市场份额持续扩大，并正逐步拓展国际业务版图。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市场格局：技术壁垒与成本优势的博弈，国产替代进程加速推进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5000"/>
                </a:srgbClr>
              </a:gs>
              <a:gs pos="50000">
                <a:srgbClr val="001428">
                  <a:alpha val="60000"/>
                </a:srgbClr>
              </a:gs>
              <a:gs pos="100000">
                <a:srgbClr val="001428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3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Investment Opportunities &amp; Future Outlook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08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5054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 · AI电源 · 增长潜力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投资机会与展望：万亿赛道的黄金机遇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市场潜力巨大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储能和AI电源市场持续高速增长，为CCS技术提供了广阔的市场空间，预计整体市场规模将在未来数年内达到千亿级别。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84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技术升级趋势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未来CCS技术将朝着更高集成度、更高智能化、更高可靠性的方向发展，例如集成更多功能模块、内置传感器实现实时监测等。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应用场景拓展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除了储能和AI电源，CCS技术还将在更多领域得到应用，如新能源汽车、智能电网等，应用边界不断扩大。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000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投资建议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建议关注在技术研发、产能布局、客户资源等方面具有优势的企业，特别是在AI电源等高价值赛道布局领先的企业。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84700" y="2159000"/>
            <a:ext cx="302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8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00B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549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期待与您的进一步交流与合作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4450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全球储能及新能源关联市场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2025-2030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全球储能及新能源关联市场</a:t>
            </a:r>
            <a:br/>
            <a:r>
              <a:t>经济规模分析报告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9EC"/>
                </a:solidFill>
              </a:defRPr>
            </a:pPr>
            <a:r>
              <a:t>2025-2030 | 11大赛道 | 市场规模 | 规格型号 |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BB"/>
                </a:solidFill>
              </a:defRPr>
            </a:pPr>
            <a:r>
              <a:t>2025-2030 | 11大赛道深度分析 | 全球市场研究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分析范围：全球储能及新能源关联市场（2025-2030）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覆盖赛道：电芯 | 电动汽车 | 电动货卡车 | 电动船舶 | 家庭储能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工商储能 | AI储能 | 半导体设备储能 | BBU储能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无人机储能 | 机器人储能（共11大赛道）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核心结论：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11大赛道5年累计总规模：107343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2030年预计总规模：27975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增速最快：AI储能 (CAGR 65%)、机器人储能 (CAGR 58%)、无人机储能 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规模最大：电动汽车 (5年累计 65831 亿元，占比 61.3%)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电动货卡车快速崛起(CAGR 32%)，船舶电动化加速(CAGR 42%)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数据来源：BloombergNEF / GGII / SNE Research / 行业公开数据综合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市场规模总览 | Market Size Overview (亿元)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赛道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5年累计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占比%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电动汽车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7275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8370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9643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11284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13578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15682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65831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61.33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电动货卡车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电动船舶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907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家庭储能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工商储能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AI储能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半导体设备储能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BBU储能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无人机储能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机器人储能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综合图表分析 | Comprehensive Charts</a:t>
            </a:r>
          </a:p>
        </p:txBody>
      </p:sp>
      <p:pic>
        <p:nvPicPr>
          <p:cNvPr id="4" name="Picture 3" descr="storage_market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52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各赛道年度趋势 | Annual Trend Lines</a:t>
            </a:r>
          </a:p>
        </p:txBody>
      </p:sp>
      <p:pic>
        <p:nvPicPr>
          <p:cNvPr id="4" name="Picture 3" descr="storage_mark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980478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赛道相关性矩阵 | Correlation Matrix</a:t>
            </a:r>
          </a:p>
        </p:txBody>
      </p:sp>
      <p:pic>
        <p:nvPicPr>
          <p:cNvPr id="4" name="Picture 3" descr="storage_marke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56420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7382亿元  |  2030年: 2036亿元  |  CAGR: 26%  |  累计占比: 6.88%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280Ah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电网/工商业储能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314Ah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178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大型储能集装箱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NCM 811 100Ah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高端新能源汽车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LG新能源、松下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钠离子 120Ah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140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大规模储能备用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宁德时代、中科海钠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LFP路线持续主导大储市场，314Ah成为新一代大电芯标配，钠离子进入规模化初期。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电动汽车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65831亿元  |  2030年: 15682亿元  |  CAGR: 18%  |  累计占比: 61.33%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CATL CTP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500-700km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特斯拉Model 3/Y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BYD Blade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60-85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450-600km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纯电/插混乘用车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比亚迪全系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GM Ultium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400-650km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纯电皮卡/SUV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通用Hummer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Hyundai E-GMP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58-77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430-560km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现代Ioniq 5/6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CTP/CTC技术持续进化，刀片电池/麒麟电池高集成化，续航普遍突破600km。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电动货卡车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30997亿元  |  2030年: 9160亿元  |  CAGR: 32%  |  累计占比: 28.88%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Semi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长途重型货运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比亚迪Q3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港口/矿区短倒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戴姆勒 eActros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315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城市配送重卡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戴姆勒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Nikola Tre BEV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753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410km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美国区域货运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Nikola/博世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重卡续航瓶颈逐步突破，900kWh级产品开始商业化，换电模式在短倒场景加速普及。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电动船舶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907亿元  |  2030年: 308亿元  |  CAGR: 42%  |  累计占比: 0.85%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船用LFP 600kWh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10-15节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内河客船/货船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纯电渡轮 2MW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12节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港口渡轮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Corvus Energy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集装箱船 50MW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沿海集装箱船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比亚迪船舶板块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电池系统向更大容量演进，50MW级大型船舶电池系统进入规划阶段。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家庭储能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406亿元  |  2030年: 126亿元  |  CAGR: 35%  |  累计占比: 0.38%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Powerwall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13.5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11.5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家储/峰谷套利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特斯拉/Panasonic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华为LUNA2000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5-30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比亚迪Home 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7.7-30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3.68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Enphase IQ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3.36-13.44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1.28kW/模块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微逆变器集成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Enphase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德美日澳四极市场，模块化产品成主流，家储一体机趋势明显。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工商储能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624亿元  |  2030年: 204亿元  |  CAGR: 40%  |  累计占比: 0.58%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宁德时代 EnerOne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MWh/站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工业园区峰谷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宁德时代+电网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阳光电源 PowTitan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100-500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效率93%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工商业调峰/备用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海辰储能 5MWh集装箱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数据算力备用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海辰/科陆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峰谷价差套利驱动，工商业储能经济性持续改善，推动光储充一体化。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AI储能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517亿元  |  2030年: 213亿元  |  CAGR: 65%  |  累计占比: 0.48%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NVIDIA DGX SuperPOD备用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AI数据中心备用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宁德时代+英伟达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微软Project Natick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MWh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数十MW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海底数据中心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微软/阳光电源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AWS/谷歌AI集群储能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200+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百MW级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超大规模AI集群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特斯拉Megapack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AI算力爆发直接拉动储能需求，PUE监管趋严背景下数据中心储能成标配。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半导体设备储能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88亿元  |  2030年: 25亿元  |  CAGR: 28%  |  累计占比: 0.08%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ASML TWINSCAN NXE备用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光刻机不间断供电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应用材料PVD设备储能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100-300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薄膜沉积设备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比亚迪电子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Lam Research刻蚀备用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50-150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刻蚀设备精密供电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精密制造设备对供电连续性要求极高，定制化储能系统成为刚需。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BBU储能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181亿元  |  2030年: 63亿元  |  CAGR: 45%  |  累计占比: 0.17%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中国移动BBU备电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2-10 kWh/柜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5G基站备用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中国铁塔一体化机柜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5-20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1-3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边缘机房备电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比亚迪、亿纬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数据中心BBU机架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kWh/架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通信机房不间断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5G基站密布推动备电需求增长，智能削峰/混电替代铅酸趋势加速。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无人机储能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148亿元  |  2030年: 56亿元  |  CAGR: 55%  |  累计占比: 0.14%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DJI Mavic 3 电池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77 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消费级航拍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翼龙-2无人机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20-50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军用长航时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亿航216 eVTOL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kWh级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250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城市空中交通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eVTOL适航认证加速，城市空中交通市场2028年后望进入快速成长期。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机器人储能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262亿元  |  2030年: 102亿元  |  CAGR: 58%  |  累计占比: 0.24%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Optimus电池包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2.3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180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人形服务机器人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特斯拉自研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工业机械臂电池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柔性生产线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ABB、发那科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AMR/AGV机器人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仓储物流AMR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人形机器人量产元年将至，AMR/AGV在仓储领域快速渗透，储能成核心零部件。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总结与展望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【核心结论】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1. 规模格局：电动汽车独占62.8%份额主导市场，电动货卡车占比27.9%居第二，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两大赛道合计占比超90%，构成市场的绝对主体。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2. 增速格局：AI储能(CAGR 65%)、机器人储能(CAGR 58%)、无人机储能(CAGR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位列增速前三，AI算力经济和人形机器人产业化是最大增量驱动力。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3. 新兴机会：电动船舶(CAGR 42%)、BBU储能(CAGR 45%)、工商储能(CAGR 40%)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处于高速成长期，兼具规模体量和增速优势，值得重点关注。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4. 核心技术趋势：LFP路线持续主导储能市场，314Ah大电芯成为新一代主流，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钠离子电池开始规模化，半固态/全固态电芯研发加速。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5. 政策驱动：中国双碳目标、欧盟Fit55、美国IRA法案共同推动全球储能市场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高速增长，新能源渗透率提升为储能打开长期空间。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