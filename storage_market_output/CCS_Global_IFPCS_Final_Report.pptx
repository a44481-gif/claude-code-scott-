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CCS集成母排 × 全球储能市场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D700"/>
                </a:solidFill>
              </a:defRPr>
            </a:pPr>
            <a:r>
              <a:t>智能融合电力连接系统（IFPCS）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9EC"/>
                </a:solidFill>
              </a:defRPr>
            </a:pPr>
            <a:r>
              <a:t>综合商业计划书 2026-2030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CC"/>
                </a:solidFill>
              </a:defRPr>
            </a:pPr>
            <a:r>
              <a:t>全赛道痛点分析 · 全球市场经济数据 · 竞争格局对标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AA"/>
                </a:solidFill>
              </a:defRPr>
            </a:pPr>
            <a:r>
              <a:t>2026年4月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</a:defRPr>
            </a:pPr>
            <a:r>
              <a:t>Email: scott365888@gmail.com  |  微信: PTS9800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全赛道用电市场痛点体系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从单一产品缺陷到全产业链系统性瓶颈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传统电力连接方案的5层系统性痛点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926080"/>
                <a:gridCol w="292608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痛点层级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全赛道通用核心问题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量化影响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IFPCS解决方案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技术性能层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大电流温升/振动松脱/盐雾失效/电磁干扰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80%电池热失控源于连接点；-40℃性能衰减60%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一体化铜排均流+热压密封+电磁屏蔽层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生产制造层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人工依赖高/良率低/换型慢/交付长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人工布线良率85%；单车型换型需15-30天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模块化预装+全自动化产线；12天样品交付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现场应用层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安装错误/故障难查/单点故障连锁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现场安装错误率12%；故障排查平均48小时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即插即用+BMS智能诊断；故障风险降90%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全生命周期层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研发贵/装配贵/维护贵/回收难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传统线束占整车成本8-12%；售后成本是制造成本3倍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标准化平台；研发周期3-6个月；可拆解环保设计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产业生态层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供应链波动/认证周期长/迭代滞后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铜价波动10%影响成本5-8%；海外认证6-12个月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国产化替代+预认证通用模块+三代技术储备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三大核心赛道的差异化致命痛点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新能源汽车（主战场）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800V高压平台：局部温升超标、电弧击穿风险</a:t>
            </a:r>
          </a:p>
          <a:p>
            <a:pPr>
              <a:spcBef>
                <a:spcPts val="300"/>
              </a:spcBef>
              <a:defRPr sz="950"/>
            </a:pPr>
            <a:r>
              <a:t>CTC/CTB技术：线束维修不可达、整车报废率上升</a:t>
            </a:r>
          </a:p>
          <a:p>
            <a:pPr>
              <a:spcBef>
                <a:spcPts val="300"/>
              </a:spcBef>
              <a:defRPr sz="950"/>
            </a:pPr>
            <a:r>
              <a:t>4680大圆柱：多连接点均流不均、一致性差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量化数据：</a:t>
            </a:r>
          </a:p>
          <a:p>
            <a:pPr>
              <a:spcBef>
                <a:spcPts val="300"/>
              </a:spcBef>
              <a:defRPr sz="950"/>
            </a:pPr>
            <a:r>
              <a:t>800V车型传统线束故障率是400V的2.3倍</a:t>
            </a:r>
          </a:p>
          <a:p>
            <a:pPr>
              <a:spcBef>
                <a:spcPts val="300"/>
              </a:spcBef>
              <a:defRPr sz="950"/>
            </a:pPr>
            <a:r>
              <a:t>CTP技术对连接可靠性要求提升60%</a:t>
            </a:r>
          </a:p>
          <a:p>
            <a:pPr>
              <a:spcBef>
                <a:spcPts val="300"/>
              </a:spcBef>
              <a:defRPr sz="950"/>
            </a:pPr>
            <a:r>
              <a:t>单车线束维修成本平均超3000元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工商业储能（增长极）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液冷储能系统：防水密封要求高、线缆腐蚀老化快</a:t>
            </a:r>
          </a:p>
          <a:p>
            <a:pPr>
              <a:spcBef>
                <a:spcPts val="300"/>
              </a:spcBef>
              <a:defRPr sz="950"/>
            </a:pPr>
            <a:r>
              <a:t>集装箱式部署：空间极致压缩、布线难度指数级上升</a:t>
            </a:r>
          </a:p>
          <a:p>
            <a:pPr>
              <a:spcBef>
                <a:spcPts val="300"/>
              </a:spcBef>
              <a:defRPr sz="950"/>
            </a:pPr>
            <a:r>
              <a:t>电网调频：高频充放电导致连接点疲劳断裂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量化数据：</a:t>
            </a:r>
          </a:p>
          <a:p>
            <a:pPr>
              <a:spcBef>
                <a:spcPts val="300"/>
              </a:spcBef>
              <a:defRPr sz="950"/>
            </a:pPr>
            <a:r>
              <a:t>储能系统连接故障占总停机时间40%</a:t>
            </a:r>
          </a:p>
          <a:p>
            <a:pPr>
              <a:spcBef>
                <a:spcPts val="300"/>
              </a:spcBef>
              <a:defRPr sz="950"/>
            </a:pPr>
            <a:r>
              <a:t>集装箱储能布线人工成本占比35%</a:t>
            </a:r>
          </a:p>
          <a:p>
            <a:pPr>
              <a:spcBef>
                <a:spcPts val="300"/>
              </a:spcBef>
              <a:defRPr sz="950"/>
            </a:pPr>
            <a:r>
              <a:t>年维护成本超初始成本的15%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AI数据中心（蓝海）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超高功率密度：&gt;30kW/柜无法适配传统线束</a:t>
            </a:r>
          </a:p>
          <a:p>
            <a:pPr>
              <a:spcBef>
                <a:spcPts val="300"/>
              </a:spcBef>
              <a:defRPr sz="950"/>
            </a:pPr>
            <a:r>
              <a:t>高压直流供电：拉弧风险高、安全防护难度大</a:t>
            </a:r>
          </a:p>
          <a:p>
            <a:pPr>
              <a:spcBef>
                <a:spcPts val="300"/>
              </a:spcBef>
              <a:defRPr sz="950"/>
            </a:pPr>
            <a:r>
              <a:t>7×24运行：单点故障导致单柜损失超10万元/小时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量化数据：</a:t>
            </a:r>
          </a:p>
          <a:p>
            <a:pPr>
              <a:spcBef>
                <a:spcPts val="300"/>
              </a:spcBef>
              <a:defRPr sz="950"/>
            </a:pPr>
            <a:r>
              <a:t>数据中心断电每分钟损失超5万美元</a:t>
            </a:r>
          </a:p>
          <a:p>
            <a:pPr>
              <a:spcBef>
                <a:spcPts val="300"/>
              </a:spcBef>
              <a:defRPr sz="950"/>
            </a:pPr>
            <a:r>
              <a:t>BBU备电系统年市场规模超150亿元</a:t>
            </a:r>
          </a:p>
          <a:p>
            <a:pPr>
              <a:spcBef>
                <a:spcPts val="300"/>
              </a:spcBef>
              <a:defRPr sz="950"/>
            </a:pPr>
            <a:r>
              <a:t>AI集群单次断电损失可达千万美元级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七大高潜力赛道的差异化致命痛点与技术壁垒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92608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赛道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核心极端工况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专属致命痛点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IFPCS核心价值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电动重卡/工程机械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重载振动/高低温/粉尘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接头松动断裂；停机成本&gt;5000元/小时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抗震一体化+防腐蚀密封+免维护设计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船舶/海上风电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盐雾腐蚀/潮湿/摇摆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绝缘老化快；海上运维成本是陆地10倍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船级社认证材料+全密封结构+长寿命设计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轨道交通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高频振动/强电磁干扰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信号采集失真；寿命需匹配30年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抗干扰屏蔽层+高疲劳强度材料+全生命周期监测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户用储能/便携式电源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低温/频繁移动/消费级安全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低温性能衰减；跌落损坏；消费者起火焦虑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低温适配+抗冲击结构+多重安全保护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无人机/工业机器人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轻量化/快速充电/高动态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重量限制续航；关节弯折疲劳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超薄柔性设计+集成散热+高弯折寿命线路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航空航天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极端高低温/真空/高可靠性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重量克级要求；单点故障即灾难性后果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极致轻量化+冗余设计+航天级材料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光伏逆变器/充电桩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户外暴晒/雨水侵蚀/高功率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老化快；防护等级低；功率密度不足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户外专用材料+IP67防护+高功率密度集成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全球市场经济数据补全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区域格局 · 盈利结构 · 供应链 · 竞争对标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全球市场格局：先深耕中国 → 再突破欧美 → 后覆盖新兴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2702052" cy="2560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27020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A295E"/>
                </a:solidFill>
              </a:defRPr>
            </a:pPr>
            <a:r>
              <a:t>350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020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423160"/>
            <a:ext cx="26471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2028年全球IFPCS市场总规模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34640"/>
            <a:ext cx="26471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中国占比57%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6100" y="1051560"/>
            <a:ext cx="2702052" cy="2560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6100" y="1234440"/>
            <a:ext cx="27020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A295E"/>
                </a:solidFill>
              </a:defRPr>
            </a:pPr>
            <a: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6100" y="2011680"/>
            <a:ext cx="27020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亿元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1820" y="2423160"/>
            <a:ext cx="26471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2028年中国IFPCS市场规模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1820" y="2834640"/>
            <a:ext cx="26471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全球最大单一市场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051560"/>
            <a:ext cx="2702052" cy="2560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34440"/>
            <a:ext cx="27020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A295E"/>
                </a:solidFill>
              </a:defRPr>
            </a:pPr>
            <a:r>
              <a:t>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011680"/>
            <a:ext cx="27020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亿元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23160"/>
            <a:ext cx="26471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2030年全球IFPCS预测规模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834640"/>
            <a:ext cx="26471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CAGR约28%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9660" y="1051560"/>
            <a:ext cx="2702052" cy="2560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9660" y="1234440"/>
            <a:ext cx="27020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A295E"/>
                </a:solidFill>
              </a:defRPr>
            </a:pPr>
            <a:r>
              <a:t>45%+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9660" y="2011680"/>
            <a:ext cx="27020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毛利率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5380" y="2423160"/>
            <a:ext cx="26471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IFPCS综合毛利率目标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5380" y="2834640"/>
            <a:ext cx="26471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88888"/>
                </a:solidFill>
              </a:defRPr>
            </a:pPr>
            <a:r>
              <a:t>高端定制贡献70%利润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全球区域市场规模拆分与增长预测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188720"/>
                <a:gridCol w="1371600"/>
                <a:gridCol w="59436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区域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2028年市场规模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全球占比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CAGR(26-30)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核心驱动因素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中国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200亿元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新能源汽车+工商业储能+AI数据中心三重爆发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欧洲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70亿元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欧盟碳中和政策+商用车电动化强制落地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北美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42亿元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AI算力基建爆发+皮卡电动化+户用储能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亚太其他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28亿元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东南亚产能转移+日韩储能出口需求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其他新兴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10亿元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拉美/中东/非洲新能源起步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盈利结构：高端与定制级市场贡献70%以上利润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1280160"/>
                <a:gridCol w="1554480"/>
                <a:gridCol w="155448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产品等级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应用场景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单价区间(元/套)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行业平均毛利率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IFPCS目标毛利率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市场策略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入门级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低端乘用车/户用储能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200-500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15-20%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20-25%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规模化走量，建立市场份额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中端级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中高端乘用车/工商业储能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500-1500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25-35%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35-45%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核心主力，贡献主要营收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高端级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800V平台/AI数据中心/电动重卡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1500-5000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35-50%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50-60%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重点突破，构建技术壁垒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定制级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航空航天/轨道交通/船舶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5000+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50-70%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60-75%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标杆项目，打造品牌溢价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供应链壁垒：垂直整合+精益生产构建成本护城河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成本结构对比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传统线束成本结构：</a:t>
            </a:r>
          </a:p>
          <a:p>
            <a:pPr>
              <a:spcBef>
                <a:spcPts val="300"/>
              </a:spcBef>
              <a:defRPr sz="950"/>
            </a:pPr>
            <a:r>
              <a:t>  铜材 45% | 人工 25% | 绝缘 15% | 其他 15%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IFPCS成本结构：</a:t>
            </a:r>
          </a:p>
          <a:p>
            <a:pPr>
              <a:spcBef>
                <a:spcPts val="300"/>
              </a:spcBef>
              <a:defRPr sz="950"/>
            </a:pPr>
            <a:r>
              <a:t>  铜材 32% | 人工 10% | 绝缘 18% | PCB 20%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IFPCS核心成本优势：</a:t>
            </a:r>
          </a:p>
          <a:p>
            <a:pPr>
              <a:spcBef>
                <a:spcPts val="300"/>
              </a:spcBef>
              <a:defRPr sz="950"/>
            </a:pPr>
            <a:r>
              <a:t>  一体化设计减少原材料用量30%</a:t>
            </a:r>
          </a:p>
          <a:p>
            <a:pPr>
              <a:spcBef>
                <a:spcPts val="300"/>
              </a:spcBef>
              <a:defRPr sz="950"/>
            </a:pPr>
            <a:r>
              <a:t>  全自动化生产降低人工成本60%</a:t>
            </a:r>
          </a:p>
          <a:p>
            <a:pPr>
              <a:spcBef>
                <a:spcPts val="300"/>
              </a:spcBef>
              <a:defRPr sz="950"/>
            </a:pPr>
            <a:r>
              <a:t>  规模化集中采购降原材料成本10-15%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风险应对：</a:t>
            </a:r>
          </a:p>
          <a:p>
            <a:pPr>
              <a:spcBef>
                <a:spcPts val="300"/>
              </a:spcBef>
              <a:defRPr sz="950"/>
            </a:pPr>
            <a:r>
              <a:t>  与江铜/铜陵有色签3年锁价协议</a:t>
            </a:r>
          </a:p>
          <a:p>
            <a:pPr>
              <a:spcBef>
                <a:spcPts val="300"/>
              </a:spcBef>
              <a:defRPr sz="950"/>
            </a:pPr>
            <a:r>
              <a:t>  推进铝代铜技术研发</a:t>
            </a:r>
          </a:p>
          <a:p>
            <a:pPr>
              <a:spcBef>
                <a:spcPts val="300"/>
              </a:spcBef>
              <a:defRPr sz="950"/>
            </a:pPr>
            <a:r>
              <a:t>  建立2-3家备选供应商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供应链全景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上游原材料：</a:t>
            </a:r>
          </a:p>
          <a:p>
            <a:pPr>
              <a:spcBef>
                <a:spcPts val="300"/>
              </a:spcBef>
              <a:defRPr sz="950"/>
            </a:pPr>
            <a:r>
              <a:t>  铜/铝（占IFPCS成本32%）</a:t>
            </a:r>
          </a:p>
          <a:p>
            <a:pPr>
              <a:spcBef>
                <a:spcPts val="300"/>
              </a:spcBef>
              <a:defRPr sz="950"/>
            </a:pPr>
            <a:r>
              <a:t>  绝缘材料（国产替代率已达70%）</a:t>
            </a:r>
          </a:p>
          <a:p>
            <a:pPr>
              <a:spcBef>
                <a:spcPts val="300"/>
              </a:spcBef>
              <a:defRPr sz="950"/>
            </a:pPr>
            <a:r>
              <a:t>  PCB/连接器/氟塑料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核心工艺内制：</a:t>
            </a:r>
          </a:p>
          <a:p>
            <a:pPr>
              <a:spcBef>
                <a:spcPts val="300"/>
              </a:spcBef>
              <a:defRPr sz="950"/>
            </a:pPr>
            <a:r>
              <a:t>  铜排精密成型+热压密封工艺</a:t>
            </a:r>
          </a:p>
          <a:p>
            <a:pPr>
              <a:spcBef>
                <a:spcPts val="300"/>
              </a:spcBef>
              <a:defRPr sz="950"/>
            </a:pPr>
            <a:r>
              <a:t>  自动化组装+在线测试</a:t>
            </a:r>
          </a:p>
          <a:p>
            <a:pPr>
              <a:spcBef>
                <a:spcPts val="300"/>
              </a:spcBef>
              <a:defRPr sz="950"/>
            </a:pPr>
            <a:r>
              <a:t>  质量追溯系统（MES集成）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下游直供客户：</a:t>
            </a:r>
          </a:p>
          <a:p>
            <a:pPr>
              <a:spcBef>
                <a:spcPts val="300"/>
              </a:spcBef>
              <a:defRPr sz="950"/>
            </a:pPr>
            <a:r>
              <a:t>  电芯厂（模组→PACK）</a:t>
            </a:r>
          </a:p>
          <a:p>
            <a:pPr>
              <a:spcBef>
                <a:spcPts val="300"/>
              </a:spcBef>
              <a:defRPr sz="950"/>
            </a:pPr>
            <a:r>
              <a:t>  整车厂（CTP/CTC集成）</a:t>
            </a:r>
          </a:p>
          <a:p>
            <a:pPr>
              <a:spcBef>
                <a:spcPts val="300"/>
              </a:spcBef>
              <a:defRPr sz="950"/>
            </a:pPr>
            <a:r>
              <a:t>  储能厂（集装箱系统）</a:t>
            </a:r>
          </a:p>
          <a:p>
            <a:pPr>
              <a:spcBef>
                <a:spcPts val="300"/>
              </a:spcBef>
              <a:defRPr sz="950"/>
            </a:pPr>
            <a:r>
              <a:t>  数据中心（BBU备电）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价值链分析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上游议价能力：</a:t>
            </a:r>
          </a:p>
          <a:p>
            <a:pPr>
              <a:spcBef>
                <a:spcPts val="300"/>
              </a:spcBef>
              <a:defRPr sz="950"/>
            </a:pPr>
            <a:r>
              <a:t>  铜材集中采购+长协锁价</a:t>
            </a:r>
          </a:p>
          <a:p>
            <a:pPr>
              <a:spcBef>
                <a:spcPts val="300"/>
              </a:spcBef>
              <a:defRPr sz="950"/>
            </a:pPr>
            <a:r>
              <a:t>  绝缘材料国产化，成本可控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中游制造优势：</a:t>
            </a:r>
          </a:p>
          <a:p>
            <a:pPr>
              <a:spcBef>
                <a:spcPts val="300"/>
              </a:spcBef>
              <a:defRPr sz="950"/>
            </a:pPr>
            <a:r>
              <a:t>  全制程自动化，良率99.5%+</a:t>
            </a:r>
          </a:p>
          <a:p>
            <a:pPr>
              <a:spcBef>
                <a:spcPts val="300"/>
              </a:spcBef>
              <a:defRPr sz="950"/>
            </a:pPr>
            <a:r>
              <a:t>  12天样品交付，响应速度领先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下游客户粘性：</a:t>
            </a:r>
          </a:p>
          <a:p>
            <a:pPr>
              <a:spcBef>
                <a:spcPts val="300"/>
              </a:spcBef>
              <a:defRPr sz="950"/>
            </a:pPr>
            <a:r>
              <a:t>  嵌入式合作，共同研发</a:t>
            </a:r>
          </a:p>
          <a:p>
            <a:pPr>
              <a:spcBef>
                <a:spcPts val="300"/>
              </a:spcBef>
              <a:defRPr sz="950"/>
            </a:pPr>
            <a:r>
              <a:t>  全生命周期服务</a:t>
            </a:r>
          </a:p>
          <a:p>
            <a:pPr>
              <a:spcBef>
                <a:spcPts val="300"/>
              </a:spcBef>
              <a:defRPr sz="950"/>
            </a:pPr>
            <a:r>
              <a:t>  换型成本低，锁定客户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竞争格局：外资份额持续下滑，本土技术型企业崛起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21615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2011680"/>
                <a:gridCol w="219456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竞争梯队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代表企业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核心优势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核心劣势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IFPCS差异化优势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第一梯队(≥14%)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安波福/莱尼(外资)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全球品牌/客户资源/规模效应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响应慢/定制化差/价格高30%+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样品交付快3倍(12天vs36天)/成本低30%/快速适配迭代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第二梯队(5-10%)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汇川/中航光电/巴斯巴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本土客户资源/交付速度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产品线单一/高端市场渗透不足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全赛道覆盖10大赛道/IFPCS集成技术领先一代</a:t>
                      </a:r>
                    </a:p>
                  </a:txBody>
                  <a:tcPr>
                    <a:solidFill>
                      <a:srgbClr val="E3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第三梯队(&lt;5%)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众多中小厂商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价格极低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无研发能力/质量不稳定/产能不足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全制程自动化/良率99.5%+/核心专利壁垒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客户价值：全生命周期成本降低30%以上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新能源汽车（800V车型·年销10万辆）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研发成本：1200万元/车型 → 720万元（节约480万）</a:t>
            </a:r>
          </a:p>
          <a:p>
            <a:pPr>
              <a:spcBef>
                <a:spcPts val="300"/>
              </a:spcBef>
              <a:defRPr sz="950"/>
            </a:pPr>
            <a:r>
              <a:t>制造成本：800元/车 → 600元（节约2000万/年）</a:t>
            </a:r>
          </a:p>
          <a:p>
            <a:pPr>
              <a:spcBef>
                <a:spcPts val="300"/>
              </a:spcBef>
              <a:defRPr sz="950"/>
            </a:pPr>
            <a:r>
              <a:t>维护成本：200元/车 → 80元（节约1200万/年）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单车全生命周期节约：520元</a:t>
            </a:r>
          </a:p>
          <a:p>
            <a:pPr>
              <a:spcBef>
                <a:spcPts val="300"/>
              </a:spcBef>
              <a:defRPr sz="950"/>
            </a:pPr>
            <a:r>
              <a:t>年销10万辆节约总额：3680万元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额外收益：</a:t>
            </a:r>
          </a:p>
          <a:p>
            <a:pPr>
              <a:spcBef>
                <a:spcPts val="300"/>
              </a:spcBef>
              <a:defRPr sz="950"/>
            </a:pPr>
            <a:r>
              <a:t>  电池包能量密度提升5%</a:t>
            </a:r>
          </a:p>
          <a:p>
            <a:pPr>
              <a:spcBef>
                <a:spcPts val="300"/>
              </a:spcBef>
              <a:defRPr sz="950"/>
            </a:pPr>
            <a:r>
              <a:t>  续航增加20km</a:t>
            </a:r>
          </a:p>
          <a:p>
            <a:pPr>
              <a:spcBef>
                <a:spcPts val="300"/>
              </a:spcBef>
              <a:defRPr sz="950"/>
            </a:pPr>
            <a:r>
              <a:t>  整车报废率下降15%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工商业储能（1GWh/年·头部储能厂）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传统方案：120元/kWh，总成本1.2亿元/年</a:t>
            </a:r>
          </a:p>
          <a:p>
            <a:pPr>
              <a:spcBef>
                <a:spcPts val="300"/>
              </a:spcBef>
              <a:defRPr sz="950"/>
            </a:pPr>
            <a:r>
              <a:t>IFPCS方案：85元/kWh，总成本8500万元/年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年节约成本：3500万元</a:t>
            </a:r>
          </a:p>
          <a:p>
            <a:pPr>
              <a:spcBef>
                <a:spcPts val="300"/>
              </a:spcBef>
              <a:defRPr sz="950"/>
            </a:pPr>
            <a:r>
              <a:t>安装效率提升：50%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额外收益：</a:t>
            </a:r>
          </a:p>
          <a:p>
            <a:pPr>
              <a:spcBef>
                <a:spcPts val="300"/>
              </a:spcBef>
              <a:defRPr sz="950"/>
            </a:pPr>
            <a:r>
              <a:t>  集装箱空间节约15%</a:t>
            </a:r>
          </a:p>
          <a:p>
            <a:pPr>
              <a:spcBef>
                <a:spcPts val="300"/>
              </a:spcBef>
              <a:defRPr sz="950"/>
            </a:pPr>
            <a:r>
              <a:t>  调试周期缩短30%</a:t>
            </a:r>
          </a:p>
          <a:p>
            <a:pPr>
              <a:spcBef>
                <a:spcPts val="300"/>
              </a:spcBef>
              <a:defRPr sz="950"/>
            </a:pPr>
            <a:r>
              <a:t>  系统可靠性提升，质保成本下降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960120"/>
            <a:ext cx="3657600" cy="457200"/>
          </a:xfrm>
          <a:prstGeom prst="rect">
            <a:avLst/>
          </a:prstGeom>
          <a:solidFill>
            <a:srgbClr val="1A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0058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AI数据中心（1000柜·大型IDC）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463040"/>
            <a:ext cx="36576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554480"/>
            <a:ext cx="3520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/>
            </a:pPr>
            <a:r>
              <a:t>传统方案故障损失：</a:t>
            </a:r>
          </a:p>
          <a:p>
            <a:pPr>
              <a:spcBef>
                <a:spcPts val="300"/>
              </a:spcBef>
              <a:defRPr sz="950"/>
            </a:pPr>
            <a:r>
              <a:t>  单点故障平均停机4小时</a:t>
            </a:r>
          </a:p>
          <a:p>
            <a:pPr>
              <a:spcBef>
                <a:spcPts val="300"/>
              </a:spcBef>
              <a:defRPr sz="950"/>
            </a:pPr>
            <a:r>
              <a:t>  损失超400万元/次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IFPCS方案：</a:t>
            </a:r>
          </a:p>
          <a:p>
            <a:pPr>
              <a:spcBef>
                <a:spcPts val="300"/>
              </a:spcBef>
              <a:defRPr sz="950"/>
            </a:pPr>
            <a:r>
              <a:t>  故障风险降低90%</a:t>
            </a:r>
          </a:p>
          <a:p>
            <a:pPr>
              <a:spcBef>
                <a:spcPts val="300"/>
              </a:spcBef>
              <a:defRPr sz="950"/>
            </a:pPr>
            <a:r>
              <a:t>  年减少损失超3000万元</a:t>
            </a:r>
          </a:p>
          <a:p>
            <a:pPr>
              <a:spcBef>
                <a:spcPts val="300"/>
              </a:spcBef>
              <a:defRPr sz="950"/>
            </a:pPr>
          </a:p>
          <a:p>
            <a:pPr>
              <a:spcBef>
                <a:spcPts val="300"/>
              </a:spcBef>
              <a:defRPr sz="950"/>
            </a:pPr>
            <a:r>
              <a:t>额外收益：</a:t>
            </a:r>
          </a:p>
          <a:p>
            <a:pPr>
              <a:spcBef>
                <a:spcPts val="300"/>
              </a:spcBef>
              <a:defRPr sz="950"/>
            </a:pPr>
            <a:r>
              <a:t>  备电响应时间&lt;10ms</a:t>
            </a:r>
          </a:p>
          <a:p>
            <a:pPr>
              <a:spcBef>
                <a:spcPts val="300"/>
              </a:spcBef>
              <a:defRPr sz="950"/>
            </a:pPr>
            <a:r>
              <a:t>  BBU系统体积减少30%</a:t>
            </a:r>
          </a:p>
          <a:p>
            <a:pPr>
              <a:spcBef>
                <a:spcPts val="300"/>
              </a:spcBef>
              <a:defRPr sz="950"/>
            </a:pPr>
            <a:r>
              <a:t>  全天候智能监控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D700"/>
                </a:solidFill>
              </a:defRPr>
            </a:pPr>
            <a:r>
              <a:t>THANK YOU FOR YOUR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AA"/>
                </a:solidFill>
              </a:defRPr>
            </a:pPr>
            <a:r>
              <a:t>智能融合电力连接系统（IFPCS）综合商业计划书  |  2026年4月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700"/>
                </a:solidFill>
              </a:defRPr>
            </a:pPr>
            <a:r>
              <a:t>Email: scott365888@gmail.com  |  微信: PTS9800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