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CCS集成母排 × 全球储能市场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D700"/>
                </a:solidFill>
              </a:defRPr>
            </a:pPr>
            <a:r>
              <a:t>智能融合电力连接系统（IFPCS）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D9EC"/>
                </a:solidFill>
              </a:defRPr>
            </a:pPr>
            <a:r>
              <a:t>综合商业计划书 2026-2030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AACC"/>
                </a:solidFill>
              </a:defRPr>
            </a:pPr>
            <a:r>
              <a:t>全赛道痛点分析 · 全球市场经济数据 · 竞争格局对标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788AA"/>
                </a:solidFill>
              </a:defRPr>
            </a:pPr>
            <a:r>
              <a:t>2026年4月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</a:defRPr>
            </a:pPr>
            <a:r>
              <a:t>PART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全赛道用电市场痛点体系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从单一产品缺陷到全产业链系统性瓶颈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传统电力连接方案的5层系统性痛点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926080"/>
                <a:gridCol w="29260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痛点层级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全赛道通用核心问题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量化影响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IFPCS解决方案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技术性能层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大电流温升/振动松脱/盐雾失效/电磁干扰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80%电池热失控源于连接点；-40℃性能衰减60%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一体化铜排均流+热压密封+电磁屏蔽层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生产制造层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人工依赖高/良率低/换型慢/交付长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人工布线良率85%；单车型换型需15-30天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模块化预装+全自动化产线；12天样品交付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现场应用层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安装错误/故障难查/单点故障连锁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现场安装错误率12%；故障排查平均48小时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即插即用+BMS智能诊断；故障风险降90%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全生命周期层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研发贵/装配贵/维护贵/回收难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传统线束占整车成本8-12%；售后成本是制造成本3倍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标准化平台；研发周期3-6个月；可拆解环保设计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产业生态层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供应链波动/认证周期长/迭代滞后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铜价波动10%影响成本5-8%；海外认证6-12个月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国产化替代+预认证通用模块+三代技术储备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三大核心赛道的差异化致命痛点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新能源汽车（主战场）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800V高压平台：局部温升超标、电弧击穿风险</a:t>
            </a:r>
          </a:p>
          <a:p>
            <a:pPr>
              <a:spcBef>
                <a:spcPts val="300"/>
              </a:spcBef>
              <a:defRPr sz="950"/>
            </a:pPr>
            <a:r>
              <a:t>CTC/CTB技术：线束维修不可达、整车报废率上升</a:t>
            </a:r>
          </a:p>
          <a:p>
            <a:pPr>
              <a:spcBef>
                <a:spcPts val="300"/>
              </a:spcBef>
              <a:defRPr sz="950"/>
            </a:pPr>
            <a:r>
              <a:t>4680大圆柱：多连接点均流不均、一致性差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量化数据：</a:t>
            </a:r>
          </a:p>
          <a:p>
            <a:pPr>
              <a:spcBef>
                <a:spcPts val="300"/>
              </a:spcBef>
              <a:defRPr sz="950"/>
            </a:pPr>
            <a:r>
              <a:t>800V车型传统线束故障率是400V的2.3倍</a:t>
            </a:r>
          </a:p>
          <a:p>
            <a:pPr>
              <a:spcBef>
                <a:spcPts val="300"/>
              </a:spcBef>
              <a:defRPr sz="950"/>
            </a:pPr>
            <a:r>
              <a:t>CTP技术对连接可靠性要求提升60%</a:t>
            </a:r>
          </a:p>
          <a:p>
            <a:pPr>
              <a:spcBef>
                <a:spcPts val="300"/>
              </a:spcBef>
              <a:defRPr sz="950"/>
            </a:pPr>
            <a:r>
              <a:t>单车线束维修成本平均超3000元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工商业储能（增长极）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液冷储能系统：防水密封要求高、线缆腐蚀老化快</a:t>
            </a:r>
          </a:p>
          <a:p>
            <a:pPr>
              <a:spcBef>
                <a:spcPts val="300"/>
              </a:spcBef>
              <a:defRPr sz="950"/>
            </a:pPr>
            <a:r>
              <a:t>集装箱式部署：空间极致压缩、布线难度指数级上升</a:t>
            </a:r>
          </a:p>
          <a:p>
            <a:pPr>
              <a:spcBef>
                <a:spcPts val="300"/>
              </a:spcBef>
              <a:defRPr sz="950"/>
            </a:pPr>
            <a:r>
              <a:t>电网调频：高频充放电导致连接点疲劳断裂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量化数据：</a:t>
            </a:r>
          </a:p>
          <a:p>
            <a:pPr>
              <a:spcBef>
                <a:spcPts val="300"/>
              </a:spcBef>
              <a:defRPr sz="950"/>
            </a:pPr>
            <a:r>
              <a:t>储能系统连接故障占总停机时间40%</a:t>
            </a:r>
          </a:p>
          <a:p>
            <a:pPr>
              <a:spcBef>
                <a:spcPts val="300"/>
              </a:spcBef>
              <a:defRPr sz="950"/>
            </a:pPr>
            <a:r>
              <a:t>集装箱储能布线人工成本占比35%</a:t>
            </a:r>
          </a:p>
          <a:p>
            <a:pPr>
              <a:spcBef>
                <a:spcPts val="300"/>
              </a:spcBef>
              <a:defRPr sz="950"/>
            </a:pPr>
            <a:r>
              <a:t>年维护成本超初始成本的15%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AI数据中心（蓝海）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超高功率密度：&gt;30kW/柜无法适配传统线束</a:t>
            </a:r>
          </a:p>
          <a:p>
            <a:pPr>
              <a:spcBef>
                <a:spcPts val="300"/>
              </a:spcBef>
              <a:defRPr sz="950"/>
            </a:pPr>
            <a:r>
              <a:t>高压直流供电：拉弧风险高、安全防护难度大</a:t>
            </a:r>
          </a:p>
          <a:p>
            <a:pPr>
              <a:spcBef>
                <a:spcPts val="300"/>
              </a:spcBef>
              <a:defRPr sz="950"/>
            </a:pPr>
            <a:r>
              <a:t>7×24运行：单点故障导致单柜损失超10万元/小时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量化数据：</a:t>
            </a:r>
          </a:p>
          <a:p>
            <a:pPr>
              <a:spcBef>
                <a:spcPts val="300"/>
              </a:spcBef>
              <a:defRPr sz="950"/>
            </a:pPr>
            <a:r>
              <a:t>数据中心断电每分钟损失超5万美元</a:t>
            </a:r>
          </a:p>
          <a:p>
            <a:pPr>
              <a:spcBef>
                <a:spcPts val="300"/>
              </a:spcBef>
              <a:defRPr sz="950"/>
            </a:pPr>
            <a:r>
              <a:t>BBU备电系统年市场规模超150亿元</a:t>
            </a:r>
          </a:p>
          <a:p>
            <a:pPr>
              <a:spcBef>
                <a:spcPts val="300"/>
              </a:spcBef>
              <a:defRPr sz="950"/>
            </a:pPr>
            <a:r>
              <a:t>AI集群单次断电损失可达千万美元级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七大高潜力赛道的差异化致命痛点与技术壁垒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2926080"/>
                <a:gridCol w="484632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赛道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核心极端工况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专属致命痛点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IFPCS核心价值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电动重卡/工程机械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重载振动/高低温/粉尘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接头松动断裂；停机成本&gt;5000元/小时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抗震一体化+防腐蚀密封+免维护设计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船舶/海上风电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盐雾腐蚀/潮湿/摇摆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绝缘老化快；海上运维成本是陆地10倍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船级社认证材料+全密封结构+长寿命设计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轨道交通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高频振动/强电磁干扰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信号采集失真；寿命需匹配30年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抗干扰屏蔽层+高疲劳强度材料+全生命周期监测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户用储能/便携式电源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低温/频繁移动/消费级安全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低温性能衰减；跌落损坏；消费者起火焦虑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低温适配+抗冲击结构+多重安全保护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无人机/工业机器人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轻量化/快速充电/高动态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重量限制续航；关节弯折疲劳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超薄柔性设计+集成散热+高弯折寿命线路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航空航天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极端高低温/真空/高可靠性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重量克级要求；单点故障即灾难性后果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极致轻量化+冗余设计+航天级材料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光伏逆变器/充电桩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户外暴晒/雨水侵蚀/高功率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老化快；防护等级低；功率密度不足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户外专用材料+IP67防护+高功率密度集成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0" y="0"/>
            <a:ext cx="1219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508000" y="2159000"/>
            <a:ext cx="1117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CCS集成母排与线束技术整合市场分析报告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7188">
            <a:off x="4826016" y="3105150"/>
            <a:ext cx="2540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BFFF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508000" y="3302000"/>
            <a:ext cx="1117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 spc="20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储能与AI电源市场的“双轮驱动”增长引擎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5969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2024年市场深度洞察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92800" y="1524000"/>
            <a:ext cx="4064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5588000" y="635000"/>
            <a:ext cx="101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目录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842000" y="1270000"/>
            <a:ext cx="508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6000" y="16510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70000" y="18796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14500" y="17780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01 市场概述：</a:t>
            </a:r>
            <a:r>
              <a:rPr lang="en-US" sz="16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技术与市场的融合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26035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70000" y="2832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14500" y="2730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02 储能市场：</a:t>
            </a:r>
            <a:r>
              <a:rPr lang="en-US" sz="16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稳健增长的基本盘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016000" y="35560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70000" y="37846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714500" y="36830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03 AI电源市场：</a:t>
            </a:r>
            <a:r>
              <a:rPr lang="en-US" sz="16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爆发式增长的蓝海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016000" y="45085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70000" y="4737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714500" y="4635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04 中国市场：</a:t>
            </a:r>
            <a:r>
              <a:rPr lang="en-US" sz="16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全球发展的核心引擎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350000" y="16510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04000" y="18796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048500" y="17780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05 技术路线：</a:t>
            </a:r>
            <a:r>
              <a:rPr lang="en-US" sz="16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主流方案与趋势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350000" y="26035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04000" y="28321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048500" y="2730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06 竞争格局：</a:t>
            </a:r>
            <a:r>
              <a:rPr lang="en-US" sz="16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主要参与者分析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0" y="35560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604000" y="37846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048500" y="36830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07 投资机会：</a:t>
            </a:r>
            <a:r>
              <a:rPr lang="en-US" sz="16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市场潜力与展望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350000" y="4508500"/>
            <a:ext cx="4826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04000" y="47371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048500" y="4635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08 总结与致谢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0" y="6705600"/>
            <a:ext cx="12192000" cy="152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A1428">
                  <a:alpha val="85000"/>
                </a:srgbClr>
              </a:gs>
              <a:gs pos="100000">
                <a:srgbClr val="0A1428">
                  <a:alpha val="7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381000" y="2032000"/>
            <a:ext cx="1143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 spc="400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CHAPTER 01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2540000"/>
            <a:ext cx="1143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市场概述：技术与市场的融合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715000" y="3429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016000" y="3683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CCS集成母排与线束技术深度解析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43600" y="4318000"/>
            <a:ext cx="304800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428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CCS集成母排与线束技术：核心连接部件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6096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889000" y="1460500"/>
            <a:ext cx="584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什么是CCS？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电芯连接系统(CCS)是将电芯连接、信号采集、绝缘防护等功能整合的模块化组件，是连接电芯与BMS的关键桥梁。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762000" y="2667000"/>
            <a:ext cx="6096000" cy="1714500"/>
          </a:xfrm>
          <a:prstGeom prst="roundRect">
            <a:avLst>
              <a:gd name="adj" fmla="val 7407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89000" y="2730500"/>
            <a:ext cx="5842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核心技术优势</a:t>
            </a:r>
            <a:endParaRPr lang="en-US" sz="1100"/>
          </a:p>
          <a:p>
            <a:pPr marL="165100" indent="-165100" algn="l">
              <a:lnSpc>
                <a:spcPct val="100000"/>
              </a:lnSpc>
              <a:buClr>
                <a:srgbClr val="DCDCDC"/>
              </a:buClr>
              <a:buChar char="•"/>
            </a:pPr>
            <a:r>
              <a:rPr lang="en-US" sz="1300" b="1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高集成度：</a:t>
            </a: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整合分散功能，大幅减少零部件数量</a:t>
            </a:r>
          </a:p>
          <a:p>
            <a:pPr marL="165100" indent="-165100" algn="l">
              <a:lnSpc>
                <a:spcPct val="100000"/>
              </a:lnSpc>
              <a:buClr>
                <a:srgbClr val="DCDCDC"/>
              </a:buClr>
              <a:buChar char="•"/>
            </a:pPr>
            <a:r>
              <a:rPr lang="en-US" sz="1300" b="1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轻量化与空间优化：</a:t>
            </a: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相比传统线束减重显著，提升电池包能量密度</a:t>
            </a:r>
          </a:p>
          <a:p>
            <a:pPr marL="165100" indent="-165100" algn="l">
              <a:lnSpc>
                <a:spcPct val="100000"/>
              </a:lnSpc>
              <a:buClr>
                <a:srgbClr val="DCDCDC"/>
              </a:buClr>
              <a:buChar char="•"/>
            </a:pPr>
            <a:r>
              <a:rPr lang="en-US" sz="1300" b="1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高可靠性：</a:t>
            </a: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减少连接点与故障风险，简化装配流程降低成本</a:t>
            </a:r>
          </a:p>
        </p:txBody>
      </p:sp>
      <p:sp>
        <p:nvSpPr>
          <p:cNvPr id="9" name="AutoShape 9"/>
          <p:cNvSpPr/>
          <p:nvPr/>
        </p:nvSpPr>
        <p:spPr>
          <a:xfrm>
            <a:off x="762000" y="4572000"/>
            <a:ext cx="6096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889000" y="4635500"/>
            <a:ext cx="584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对比传统线束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通过一体化设计，有效解决了传统线束易老化、故障率高、占用空间大等痛点，是电池系统的未来主流方向。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7493000" y="1651000"/>
            <a:ext cx="3556000" cy="3556000"/>
          </a:xfrm>
          <a:prstGeom prst="roundRect">
            <a:avLst>
              <a:gd name="adj" fmla="val 3571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00BF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rcRect t="170" b="170"/>
          <a:stretch>
            <a:fillRect/>
          </a:stretch>
        </p:blipFill>
        <p:spPr>
          <a:xfrm>
            <a:off x="7937500" y="1879600"/>
            <a:ext cx="2667000" cy="3086100"/>
          </a:xfrm>
          <a:prstGeom prst="roundRect">
            <a:avLst>
              <a:gd name="adj" fmla="val 4761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7493000" y="5334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4B4B4"/>
                </a:solidFill>
                <a:latin typeface="Noto Sans SC"/>
                <a:ea typeface="Noto Sans SC"/>
                <a:cs typeface="Noto Sans SC"/>
                <a:sym typeface="Noto Sans SC"/>
              </a:rPr>
              <a:t>CCS集成母排结构示意图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0" y="6807200"/>
            <a:ext cx="12192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E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“双轮驱动”下的市场规模总览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270000"/>
            <a:ext cx="1016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524000"/>
            <a:ext cx="10668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18161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1651000"/>
            <a:ext cx="990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CCS集成母排与线束技术在储能和AI电源市场应用高速增长，预计2030年合计规模达</a:t>
            </a:r>
            <a:r>
              <a:rPr lang="en-US" sz="16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206-328亿元</a:t>
            </a: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，成为继新能源汽车后的核心增长引擎。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667000"/>
            <a:ext cx="10668000" cy="279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62000" y="5588000"/>
            <a:ext cx="3302000" cy="762000"/>
          </a:xfrm>
          <a:prstGeom prst="roundRect">
            <a:avLst>
              <a:gd name="adj" fmla="val 16666"/>
            </a:avLst>
          </a:prstGeom>
          <a:solidFill>
            <a:srgbClr val="00BFFF">
              <a:alpha val="10000"/>
            </a:srgbClr>
          </a:solidFill>
          <a:ln w="12700" cap="flat" cmpd="sng">
            <a:solidFill>
              <a:srgbClr val="00BF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58166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33500" y="5715000"/>
            <a:ext cx="266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/>
                <a:ea typeface="Noto Sans SC"/>
                <a:cs typeface="Noto Sans SC"/>
                <a:sym typeface="Noto Sans SC"/>
              </a:rPr>
              <a:t>AI电源市场增速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超30% 复合增长率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445000" y="5588000"/>
            <a:ext cx="3302000" cy="762000"/>
          </a:xfrm>
          <a:prstGeom prst="roundRect">
            <a:avLst>
              <a:gd name="adj" fmla="val 16666"/>
            </a:avLst>
          </a:prstGeom>
          <a:solidFill>
            <a:srgbClr val="00BFFF">
              <a:alpha val="10000"/>
            </a:srgbClr>
          </a:solidFill>
          <a:ln w="12700" cap="flat" cmpd="sng">
            <a:solidFill>
              <a:srgbClr val="00BF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500" y="58166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016500" y="5715000"/>
            <a:ext cx="266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/>
                <a:ea typeface="Noto Sans SC"/>
                <a:cs typeface="Noto Sans SC"/>
                <a:sym typeface="Noto Sans SC"/>
              </a:rPr>
              <a:t>储能市场主导地位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占比超 70% 份额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28000" y="5588000"/>
            <a:ext cx="3302000" cy="762000"/>
          </a:xfrm>
          <a:prstGeom prst="roundRect">
            <a:avLst>
              <a:gd name="adj" fmla="val 16666"/>
            </a:avLst>
          </a:prstGeom>
          <a:solidFill>
            <a:srgbClr val="00BFFF">
              <a:alpha val="10000"/>
            </a:srgbClr>
          </a:solidFill>
          <a:ln w="12700" cap="flat" cmpd="sng">
            <a:solidFill>
              <a:srgbClr val="00BF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58166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699500" y="5715000"/>
            <a:ext cx="266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/>
                <a:ea typeface="Noto Sans SC"/>
                <a:cs typeface="Noto Sans SC"/>
                <a:sym typeface="Noto Sans SC"/>
              </a:rPr>
              <a:t>2030年 市场天花板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突破 300 亿元大关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80F1E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5715000" y="203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0" y="2286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 spc="400">
                <a:solidFill>
                  <a:srgbClr val="00BFFF">
                    <a:alpha val="8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CHAPTER 02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81000" y="2794000"/>
            <a:ext cx="1143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02 储能市场：稳健增长的基本盘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6096000"/>
            <a:ext cx="12192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0" y="6223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5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ENERGY STORAGE MARKET ANALYSIS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8000" y="508000"/>
            <a:ext cx="406400" cy="406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77600" y="508000"/>
            <a:ext cx="4064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41E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90551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储能市场规模：稳健增长，前景广阔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4826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8415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18034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全球规模预测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524000" y="22225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储能市场是CCS技术应用的基本盘，预计2030年规模达116-198亿元，年复合增长率(CAGR)超25%。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3302000"/>
            <a:ext cx="4826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492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34544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市场渗透率提升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524000" y="38735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随着技术成熟与成本下降，CCS技术在储能市场的渗透率将持续攀升，预计2030年将超过90%。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969000" y="1651000"/>
            <a:ext cx="5080000" cy="3048000"/>
          </a:xfrm>
          <a:prstGeom prst="roundRect">
            <a:avLst>
              <a:gd name="adj" fmla="val 4166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80808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1778000"/>
            <a:ext cx="4826000" cy="279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62000" y="5080000"/>
            <a:ext cx="10668000" cy="76200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00BFFF">
                  <a:alpha val="10000"/>
                </a:srgbClr>
              </a:gs>
              <a:gs pos="100000">
                <a:srgbClr val="00BFFF">
                  <a:alpha val="20000"/>
                </a:srgbClr>
              </a:gs>
            </a:gsLst>
            <a:lin ang="0"/>
          </a:gradFill>
          <a:ln w="12700" cap="flat" cmpd="sng">
            <a:solidFill>
              <a:srgbClr val="00B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6000" y="53086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5207000"/>
            <a:ext cx="965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核心洞察：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储能市场正处于爆发前夜，CCS技术凭借其在效率与成本上的优势，将成为推动市场规模翻倍增长的关键驱动力。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8051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核心驱动：装机量爆发与技术替代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5842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9685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19304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全球新型储能装机量激增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524000" y="23114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能源转型加速推动装机量快速增长，预计2030年突破500GWh/年，为CCS技术提供巨大市场需求。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3238500"/>
            <a:ext cx="5842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4290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33909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CCS技术全面替代传统线束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524000" y="37719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在集成度、可靠性、安全性及成本上优势显著，正快速替代传统方案，成为储能系统首选。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4699000"/>
            <a:ext cx="5842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889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524000" y="48514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技术路线主流化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524000" y="52324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低成本的FFC/FDC技术路线将成为主流，预计占比约60%，进一步推动市场规模扩大。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112000" y="2286000"/>
            <a:ext cx="3810000" cy="2286000"/>
          </a:xfrm>
          <a:prstGeom prst="roundRect">
            <a:avLst>
              <a:gd name="adj" fmla="val 5555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00BF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/>
          <a:srcRect l="235" r="235"/>
          <a:stretch>
            <a:fillRect/>
          </a:stretch>
        </p:blipFill>
        <p:spPr>
          <a:xfrm>
            <a:off x="7239000" y="2425700"/>
            <a:ext cx="3556000" cy="2006600"/>
          </a:xfrm>
          <a:prstGeom prst="roundRect">
            <a:avLst>
              <a:gd name="adj" fmla="val 6329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7112000" y="4699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08080"/>
                </a:solidFill>
                <a:latin typeface="Noto Sans SC"/>
                <a:ea typeface="Noto Sans SC"/>
                <a:cs typeface="Noto Sans SC"/>
                <a:sym typeface="Noto Sans SC"/>
              </a:rPr>
              <a:t>大型储能电站实景航拍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603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主要应用场景：多元化布局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rcRect l="716" r="716"/>
          <a:stretch>
            <a:fillRect/>
          </a:stretch>
        </p:blipFill>
        <p:spPr>
          <a:xfrm>
            <a:off x="1016000" y="2032000"/>
            <a:ext cx="2794000" cy="1651000"/>
          </a:xfrm>
          <a:prstGeom prst="roundRect">
            <a:avLst>
              <a:gd name="adj" fmla="val 7692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016000" y="38735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电网侧储能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4318000"/>
            <a:ext cx="279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用于电网的调频、调峰和备用电源，保障电网稳定运行，提升能源利用效率。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rcRect l="2463" r="2463"/>
          <a:stretch>
            <a:fillRect/>
          </a:stretch>
        </p:blipFill>
        <p:spPr>
          <a:xfrm>
            <a:off x="4699000" y="2032000"/>
            <a:ext cx="2794000" cy="1651000"/>
          </a:xfrm>
          <a:prstGeom prst="roundRect">
            <a:avLst>
              <a:gd name="adj" fmla="val 7692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699000" y="38735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工商业储能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99000" y="4318000"/>
            <a:ext cx="279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帮助工商业用户实现峰谷套利、需量管理，有效降低企业用电成本，增强供电自主性。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128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 t="20454" b="20454"/>
          <a:stretch>
            <a:fillRect/>
          </a:stretch>
        </p:blipFill>
        <p:spPr>
          <a:xfrm>
            <a:off x="8382000" y="2032000"/>
            <a:ext cx="2794000" cy="1651000"/>
          </a:xfrm>
          <a:prstGeom prst="roundRect">
            <a:avLst>
              <a:gd name="adj" fmla="val 7692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8382000" y="38735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户用储能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82000" y="4318000"/>
            <a:ext cx="279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为家庭提供能源管理和应急供电解决方案，优化家庭用电结构，保障断电时的基本生活需求。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0" y="6781800"/>
            <a:ext cx="12192000" cy="762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A1428">
                  <a:alpha val="85000"/>
                </a:srgbClr>
              </a:gs>
              <a:gs pos="50000">
                <a:srgbClr val="0A1428">
                  <a:alpha val="60000"/>
                </a:srgbClr>
              </a:gs>
              <a:gs pos="100000">
                <a:srgbClr val="0A1428">
                  <a:alpha val="85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0" y="0"/>
            <a:ext cx="1219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0" y="1778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 spc="400">
                <a:solidFill>
                  <a:srgbClr val="00BFFF"/>
                </a:solidFill>
                <a:latin typeface="SimHei"/>
                <a:ea typeface="SimHei"/>
                <a:cs typeface="SimHei"/>
                <a:sym typeface="SimHei"/>
              </a:rPr>
              <a:t>CHAPTER 03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2514600" y="2413000"/>
            <a:ext cx="7162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SimHei"/>
                <a:ea typeface="SimHei"/>
                <a:cs typeface="SimHei"/>
                <a:sym typeface="SimHei"/>
              </a:rPr>
              <a:t>AI电源市场：爆发式增长的蓝海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715000" y="330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16000" y="3683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SimHei"/>
                <a:ea typeface="SimHei"/>
                <a:cs typeface="SimHei"/>
                <a:sym typeface="SimHei"/>
              </a:rPr>
              <a:t>聚焦高功率密度与高效能需求，开启能源管理新篇章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019800" y="5715000"/>
            <a:ext cx="152400" cy="152400"/>
          </a:xfrm>
          <a:prstGeom prst="roundRect">
            <a:avLst>
              <a:gd name="adj" fmla="val 0"/>
            </a:avLst>
          </a:prstGeom>
          <a:solidFill>
            <a:srgbClr val="00B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423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90551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AI电源市场规模：爆发式增长的新蓝海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5080000" cy="1651000"/>
          </a:xfrm>
          <a:prstGeom prst="roundRect">
            <a:avLst>
              <a:gd name="adj" fmla="val 769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8415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18034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全球规模预测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228600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AI电源市场是CCS技术应用的新兴蓝海。预计到2030年，全球市场规模将达</a:t>
            </a:r>
            <a:r>
              <a:rPr lang="en-US" sz="14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90-130亿元</a:t>
            </a: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，年复合增长率（CAGR）</a:t>
            </a:r>
            <a:r>
              <a:rPr lang="en-US" sz="14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超40%</a:t>
            </a: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3556000"/>
            <a:ext cx="5080000" cy="1651000"/>
          </a:xfrm>
          <a:prstGeom prst="roundRect">
            <a:avLst>
              <a:gd name="adj" fmla="val 769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746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37084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市场渗透率趋势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016000" y="419100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随着AI算力需求爆发，CCS技术渗透率将快速提升。预计到2030年，在AI电源市场的渗透率将达到</a:t>
            </a:r>
            <a:r>
              <a:rPr lang="en-US" sz="14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85%-90%</a:t>
            </a: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3000" y="1651000"/>
            <a:ext cx="5207000" cy="3556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62000" y="5715000"/>
            <a:ext cx="10668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762000" y="59055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数据来源：行业研究报告及市场分析预测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41E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核心驱动：算力爆发与技术升级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9685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19050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AI算力需求爆发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524000" y="2286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2030年全球AI服务器出货量将超1000万台，对电源系统的需求呈指数级增长。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32385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4290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33655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800V HVDC架构普及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524000" y="37465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为提升能效，800V高压直流架构快速普及，CCS技术是满足其高压、高密、低阻要求的唯一解。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46990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889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524000" y="48260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液冷技术普及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524000" y="5207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AI数据中心液冷渗透率提升，对电源集成度要求更高，CCS技术完美适配这一趋势。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350000" y="1778000"/>
            <a:ext cx="4572000" cy="2603500"/>
          </a:xfrm>
          <a:prstGeom prst="roundRect">
            <a:avLst>
              <a:gd name="adj" fmla="val 4878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00BF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/>
          <a:srcRect t="171" b="171"/>
          <a:stretch>
            <a:fillRect/>
          </a:stretch>
        </p:blipFill>
        <p:spPr>
          <a:xfrm>
            <a:off x="6477000" y="1866900"/>
            <a:ext cx="4318000" cy="2413000"/>
          </a:xfrm>
          <a:prstGeom prst="roundRect">
            <a:avLst>
              <a:gd name="adj" fmla="val 5263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6350000" y="4508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4B4B4"/>
                </a:solidFill>
                <a:latin typeface="Noto Sans SC"/>
                <a:ea typeface="Noto Sans SC"/>
                <a:cs typeface="Noto Sans SC"/>
                <a:sym typeface="Noto Sans SC"/>
              </a:rPr>
              <a:t>▲ 现代化AI数据中心基础设施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350000" y="5016500"/>
            <a:ext cx="4572000" cy="76200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00BFFF">
                  <a:alpha val="10000"/>
                </a:srgbClr>
              </a:gs>
              <a:gs pos="100000">
                <a:srgbClr val="00BFFF">
                  <a:alpha val="5000"/>
                </a:srgbClr>
              </a:gs>
            </a:gsLst>
            <a:lin ang="0"/>
          </a:gradFill>
          <a:ln w="12700" cap="flat" cmpd="sng">
            <a:solidFill>
              <a:srgbClr val="00B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477000" y="5143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电源系统作为数据中心的“心脏”，其稳定性直接决定算力产出效率。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704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主要应用场景：AI算力基础设施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 l="16666" r="16666"/>
          <a:stretch>
            <a:fillRect/>
          </a:stretch>
        </p:blipFill>
        <p:spPr>
          <a:xfrm>
            <a:off x="1651000" y="1968500"/>
            <a:ext cx="1524000" cy="1524000"/>
          </a:xfrm>
          <a:prstGeom prst="roundRect">
            <a:avLst>
              <a:gd name="adj" fmla="val 8333"/>
            </a:avLst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" y="3683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33500" y="36449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AI服务器BBU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4127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即电池备份单元，确保AI服务器在断电情况下仍能不间断运行，是数据中心稳定运行的关键。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rcRect l="27064" r="27064"/>
          <a:stretch>
            <a:fillRect/>
          </a:stretch>
        </p:blipFill>
        <p:spPr>
          <a:xfrm>
            <a:off x="5334000" y="1968500"/>
            <a:ext cx="1524000" cy="1524000"/>
          </a:xfrm>
          <a:prstGeom prst="roundRect">
            <a:avLst>
              <a:gd name="adj" fmla="val 8333"/>
            </a:avLst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35500" y="3683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36449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智算中心储能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635500" y="4127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为智算中心配套储能系统，实现削峰填谷和应急供电，降低运营成本。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28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1968500"/>
            <a:ext cx="1524000" cy="1524000"/>
          </a:xfrm>
          <a:prstGeom prst="roundRect">
            <a:avLst>
              <a:gd name="adj" fmla="val 8333"/>
            </a:avLst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3683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699500" y="36449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高压配电系统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18500" y="4127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应用于800V HVDC配电系统，提升能效，降低线路损耗。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62000" y="5715000"/>
            <a:ext cx="10668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423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7035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高价值赛道：单价与毛利率对比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AI电源市场不仅增长迅速，更是一个高价值的赛道。通过对比可以发现，AI电源CCS产品的单价和毛利率均显著高于储能、车规级及传统市场。</a:t>
            </a:r>
            <a:endParaRPr lang="en-US" sz="110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62000" y="2413000"/>
          <a:ext cx="10668000" cy="2794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产品类型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单价区间（元/kWh）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毛利率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AI电源定制化CCS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1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80-180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1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35%-45%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储能CCS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20-30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22%-28%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车规级CCS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30-50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25%-30%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传统分散式线束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10-15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FFFFFF">
                              <a:alpha val="80000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12%-20%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AutoShape 7"/>
          <p:cNvSpPr/>
          <p:nvPr/>
        </p:nvSpPr>
        <p:spPr>
          <a:xfrm>
            <a:off x="762000" y="6096000"/>
            <a:ext cx="10668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2159000"/>
            <a:ext cx="12192000" cy="2540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BF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0" y="1651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1" i="0" u="none" strike="noStrike" spc="400">
                <a:solidFill>
                  <a:srgbClr val="00BFFF"/>
                </a:solidFill>
                <a:latin typeface="DIN Alternate"/>
                <a:ea typeface="DIN Alternate"/>
                <a:cs typeface="DIN Alternate"/>
                <a:sym typeface="DIN Alternate"/>
              </a:rPr>
              <a:t>CHAPTER 04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2286000"/>
            <a:ext cx="1117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ffectLst>
            <a:outerShdw blurRad="127000" dir="5400000" algn="tl" rotWithShape="0">
              <a:srgbClr val="00BFFF">
                <a:alpha val="60000"/>
              </a:srgbClr>
            </a:outerShdw>
          </a:effectLst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中国市场：全球发展的核心引擎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34376">
            <a:off x="5461032" y="3168650"/>
            <a:ext cx="1270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BFFF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1016000" y="342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 spc="20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聚焦中国在 CCS 技术领域的战略地位与增长潜力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92800" y="4191000"/>
            <a:ext cx="4064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10617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中国市场：全球CCS技术发展的核心推动力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8415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17780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庞大的市场规模潜力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524000" y="2159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作为全球最大储能市场和AI算力核心区，预计2030年市场规模将突破200亿元人民币。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31115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302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3238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主导全球市场份额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524000" y="36195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预计占据全球储能与AI电源CCS市场份额的65%-70%，是全球技术发展的核心引擎。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45720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762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524000" y="46990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完整的供应链集群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524000" y="5080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从原材料到设备制造再到应用市场，形成了强大的全产业链优势，保障技术快速迭代。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350000" y="1905000"/>
            <a:ext cx="4826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2032000"/>
            <a:ext cx="4572000" cy="2794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762000" y="6096000"/>
            <a:ext cx="10668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0" y="1778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6400" b="1" i="0" u="none" strike="noStrike">
                <a:solidFill>
                  <a:srgbClr val="00BFFF"/>
                </a:solidFill>
                <a:latin typeface="DIN Alternate"/>
                <a:ea typeface="DIN Alternate"/>
                <a:cs typeface="DIN Alternate"/>
                <a:sym typeface="DIN Alternate"/>
              </a:rPr>
              <a:t>05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715000" y="2921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6000" y="317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技术路线与竞争格局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3810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 spc="200">
                <a:solidFill>
                  <a:srgbClr val="FFFFFF">
                    <a:alpha val="6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TECHNICAL ROUTES &amp; COMPETITIVE LANDSCAPE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92800" y="4572000"/>
            <a:ext cx="4064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E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主流技术路线：成本与性能的平衡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2065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8C8C8"/>
                </a:solidFill>
                <a:latin typeface="Noto Sans SC"/>
                <a:ea typeface="Noto Sans SC"/>
                <a:cs typeface="Noto Sans SC"/>
                <a:sym typeface="Noto Sans SC"/>
              </a:rPr>
              <a:t>不同的应用场景对CCS技术提出了不同的要求，市场上形成了多种主流技术路线，以平衡成本与性能。</a:t>
            </a:r>
            <a:endParaRPr lang="en-US" sz="110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62000" y="1905000"/>
          <a:ext cx="10668000" cy="2794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技术路线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主要特点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成本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0B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主要应用场景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FFF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FFC/FDC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成本低，工艺简单，适合大规模应用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较低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储能市场（占比约60%）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0B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高压FPC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适配高压、高密需求，性能更高，可靠性好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较高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AI电源市场、高端储能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传统线束型CCS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技术成熟，成本低，但集成度低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低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DCDCD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部分低端储能场景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AutoShape 7"/>
          <p:cNvSpPr/>
          <p:nvPr/>
        </p:nvSpPr>
        <p:spPr>
          <a:xfrm>
            <a:off x="762000" y="6096000"/>
            <a:ext cx="10668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E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90551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主要竞争参与者：国内外企业同台竞技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5080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00" y="2032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74800" y="20066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国际领先企业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2603500"/>
            <a:ext cx="457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600" b="1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代表企业：</a:t>
            </a:r>
            <a:endParaRPr lang="en-US" sz="1100"/>
          </a:p>
          <a:p>
            <a:pPr indent="0" algn="l">
              <a:lnSpc>
                <a:spcPct val="108333"/>
              </a:lnSpc>
            </a:pPr>
            <a:r>
              <a:rPr lang="en-US" sz="1500" b="0" i="0" u="none" strike="noStrike">
                <a:solidFill>
                  <a:srgbClr val="C8C8C8"/>
                </a:solidFill>
                <a:latin typeface="Noto Sans SC"/>
                <a:ea typeface="Noto Sans SC"/>
                <a:cs typeface="Noto Sans SC"/>
                <a:sym typeface="Noto Sans SC"/>
              </a:rPr>
              <a:t>泰科电子 (TE Connectivity)、安波福 (Aptiv)、莫仕 (Molex) 等。</a:t>
            </a:r>
          </a:p>
          <a:p>
            <a:pPr indent="0" algn="l">
              <a:lnSpc>
                <a:spcPct val="108333"/>
              </a:lnSpc>
            </a:pPr>
            <a:endParaRPr lang="en-US" sz="1500" b="0" i="0" u="none" strike="noStrike">
              <a:solidFill>
                <a:srgbClr val="C8C8C8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333"/>
              </a:lnSpc>
            </a:pPr>
            <a:r>
              <a:rPr lang="en-US" sz="1600" b="1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竞争优势：</a:t>
            </a:r>
          </a:p>
          <a:p>
            <a:pPr indent="0" algn="l">
              <a:lnSpc>
                <a:spcPct val="108333"/>
              </a:lnSpc>
            </a:pPr>
            <a:r>
              <a:rPr lang="en-US" sz="1500" b="0" i="0" u="none" strike="noStrike">
                <a:solidFill>
                  <a:srgbClr val="C8C8C8"/>
                </a:solidFill>
                <a:latin typeface="Noto Sans SC"/>
                <a:ea typeface="Noto Sans SC"/>
                <a:cs typeface="Noto Sans SC"/>
                <a:sym typeface="Noto Sans SC"/>
              </a:rPr>
              <a:t>凭借深厚的技术积累、成熟的供应链体系和强大的品牌影响力，长期占据全球高端市场主导地位。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6350000" y="1778000"/>
            <a:ext cx="5080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54800" y="2032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62800" y="20066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国内崛起力量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604000" y="2603500"/>
            <a:ext cx="457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600" b="1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代表企业：</a:t>
            </a:r>
            <a:endParaRPr lang="en-US" sz="1100"/>
          </a:p>
          <a:p>
            <a:pPr indent="0" algn="l">
              <a:lnSpc>
                <a:spcPct val="108333"/>
              </a:lnSpc>
            </a:pPr>
            <a:r>
              <a:rPr lang="en-US" sz="1500" b="0" i="0" u="none" strike="noStrike">
                <a:solidFill>
                  <a:srgbClr val="C8C8C8"/>
                </a:solidFill>
                <a:latin typeface="Noto Sans SC"/>
                <a:ea typeface="Noto Sans SC"/>
                <a:cs typeface="Noto Sans SC"/>
                <a:sym typeface="Noto Sans SC"/>
              </a:rPr>
              <a:t>中航光电、瑞可达、巴斯巴、卡倍亿等。</a:t>
            </a:r>
          </a:p>
          <a:p>
            <a:pPr indent="0" algn="l">
              <a:lnSpc>
                <a:spcPct val="108333"/>
              </a:lnSpc>
            </a:pPr>
            <a:endParaRPr lang="en-US" sz="1500" b="0" i="0" u="none" strike="noStrike">
              <a:solidFill>
                <a:srgbClr val="C8C8C8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333"/>
              </a:lnSpc>
            </a:pPr>
            <a:r>
              <a:rPr lang="en-US" sz="1600" b="1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竞争优势：</a:t>
            </a:r>
          </a:p>
          <a:p>
            <a:pPr indent="0" algn="l">
              <a:lnSpc>
                <a:spcPct val="108333"/>
              </a:lnSpc>
            </a:pPr>
            <a:r>
              <a:rPr lang="en-US" sz="1500" b="0" i="0" u="none" strike="noStrike">
                <a:solidFill>
                  <a:srgbClr val="C8C8C8"/>
                </a:solidFill>
                <a:latin typeface="Noto Sans SC"/>
                <a:ea typeface="Noto Sans SC"/>
                <a:cs typeface="Noto Sans SC"/>
                <a:sym typeface="Noto Sans SC"/>
              </a:rPr>
              <a:t>依托本土产业链的成本优势和快速响应能力，在国内市场份额持续扩大，并正逐步拓展国际业务版图。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762000" y="5461000"/>
            <a:ext cx="10668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762000" y="571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A0A0A0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市场格局：技术壁垒与成本优势的博弈，国产替代进程加速推进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0000">
                  <a:alpha val="85000"/>
                </a:srgbClr>
              </a:gs>
              <a:gs pos="50000">
                <a:srgbClr val="001428">
                  <a:alpha val="60000"/>
                </a:srgbClr>
              </a:gs>
              <a:gs pos="100000">
                <a:srgbClr val="001428">
                  <a:alpha val="1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381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BFFF"/>
                </a:solidFill>
                <a:latin typeface="DIN Alternate"/>
                <a:ea typeface="DIN Alternate"/>
                <a:cs typeface="DIN Alternate"/>
                <a:sym typeface="DIN Alternate"/>
              </a:rPr>
              <a:t>CHAPTER 06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730500"/>
            <a:ext cx="762000" cy="508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2984500"/>
            <a:ext cx="1066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投资机会与展望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810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70196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Investment Opportunities &amp; Future Outlook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50800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143000" y="50546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储能市场 · AI电源 · 增长潜力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E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66800" y="508000"/>
            <a:ext cx="100584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投资机会与展望：万亿赛道的黄金机遇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270000"/>
            <a:ext cx="10668000" cy="25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BFFF">
                  <a:alpha val="0"/>
                </a:srgbClr>
              </a:gs>
              <a:gs pos="50000">
                <a:srgbClr val="00BFFF">
                  <a:alpha val="100000"/>
                </a:srgbClr>
              </a:gs>
              <a:gs pos="100000">
                <a:srgbClr val="00BF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651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8415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18034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市场潜力巨大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2286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储能和AI电源市场持续高速增长，为CCS技术提供了广阔的市场空间，预计整体市场规模将在未来数年内达到千亿级别。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23000" y="1651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1841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6985000" y="18034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技术升级趋势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286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未来CCS技术将朝着更高集成度、更高智能化、更高可靠性的方向发展，例如集成更多功能模块、内置传感器实现实时监测等。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3810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000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524000" y="39624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应用场景拓展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016000" y="4445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除了储能和AI电源，CCS技术还将在更多领域得到应用，如新能源汽车、智能电网等，应用边界不断扩大。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23000" y="3810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7000" y="40005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985000" y="39624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投资建议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445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建议关注在技术研发、产能布局、客户资源等方面具有优势的企业，特别是在AI电源等高价值赛道布局领先的企业。</a:t>
            </a:r>
            <a:endParaRPr lang="en-US"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4584700" y="2159000"/>
            <a:ext cx="3022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感谢聆听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984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 spc="400">
                <a:solidFill>
                  <a:srgbClr val="00B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THANKS FOR LISTENING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34376">
            <a:off x="5461032" y="3549650"/>
            <a:ext cx="1270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BFFF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1016000" y="3937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期待与您的进一步交流与合作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43600" y="4445000"/>
            <a:ext cx="304800" cy="3048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9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全球市场经济数据补全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区域格局 · 盈利结构 · 供应链 · 竞争对标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全球市场格局：先深耕中国 → 再突破欧美 → 后覆盖新兴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2702052" cy="2560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27020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0A295E"/>
                </a:solidFill>
              </a:defRPr>
            </a:pPr>
            <a:r>
              <a:t>350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011680"/>
            <a:ext cx="27020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亿元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423160"/>
            <a:ext cx="26471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</a:defRPr>
            </a:pPr>
            <a:r>
              <a:t>2028年全球IFPCS市场总规模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834640"/>
            <a:ext cx="26471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88888"/>
                </a:solidFill>
              </a:defRPr>
            </a:pPr>
            <a:r>
              <a:t>中国占比57%</a:t>
            </a:r>
          </a:p>
        </p:txBody>
      </p:sp>
      <p:sp>
        <p:nvSpPr>
          <p:cNvPr id="9" name="Rectangle 8"/>
          <p:cNvSpPr/>
          <p:nvPr/>
        </p:nvSpPr>
        <p:spPr>
          <a:xfrm>
            <a:off x="3086100" y="1051560"/>
            <a:ext cx="2702052" cy="2560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86100" y="1234440"/>
            <a:ext cx="27020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0A295E"/>
                </a:solidFill>
              </a:defRPr>
            </a:pPr>
            <a:r>
              <a:t>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6100" y="2011680"/>
            <a:ext cx="27020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亿元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1820" y="2423160"/>
            <a:ext cx="26471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</a:defRPr>
            </a:pPr>
            <a:r>
              <a:t>2028年中国IFPCS市场规模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1820" y="2834640"/>
            <a:ext cx="26471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88888"/>
                </a:solidFill>
              </a:defRPr>
            </a:pPr>
            <a:r>
              <a:t>全球最大单一市场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051560"/>
            <a:ext cx="2702052" cy="2560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234440"/>
            <a:ext cx="27020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0A295E"/>
                </a:solidFill>
              </a:defRPr>
            </a:pPr>
            <a:r>
              <a:t>600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011680"/>
            <a:ext cx="27020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亿元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423160"/>
            <a:ext cx="26471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</a:defRPr>
            </a:pPr>
            <a:r>
              <a:t>2030年全球IFPCS预测规模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834640"/>
            <a:ext cx="26471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88888"/>
                </a:solidFill>
              </a:defRPr>
            </a:pPr>
            <a:r>
              <a:t>CAGR约28%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09660" y="1051560"/>
            <a:ext cx="2702052" cy="2560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09660" y="1234440"/>
            <a:ext cx="27020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0A295E"/>
                </a:solidFill>
              </a:defRPr>
            </a:pPr>
            <a:r>
              <a:t>45%+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09660" y="2011680"/>
            <a:ext cx="27020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毛利率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5380" y="2423160"/>
            <a:ext cx="26471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</a:defRPr>
            </a:pPr>
            <a:r>
              <a:t>IFPCS综合毛利率目标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5380" y="2834640"/>
            <a:ext cx="26471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88888"/>
                </a:solidFill>
              </a:defRPr>
            </a:pPr>
            <a:r>
              <a:t>高端定制贡献70%利润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全球区域市场规模拆分与增长预测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188720"/>
                <a:gridCol w="1371600"/>
                <a:gridCol w="59436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区域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2028年市场规模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全球占比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CAGR(26-30)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核心驱动因素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中国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200亿元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新能源汽车+工商业储能+AI数据中心三重爆发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欧洲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70亿元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24%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欧盟碳中和政策+商用车电动化强制落地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北美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42亿元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AI算力基建爆发+皮卡电动化+户用储能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亚太其他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28亿元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26%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东南亚产能转移+日韩储能出口需求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其他新兴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10亿元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拉美/中东/非洲新能源起步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盈利结构：高端与定制级市场贡献70%以上利润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94560"/>
                <a:gridCol w="1280160"/>
                <a:gridCol w="1554480"/>
                <a:gridCol w="155448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产品等级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应用场景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单价区间(元/套)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行业平均毛利率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IFPCS目标毛利率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市场策略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入门级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低端乘用车/户用储能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200-500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15-20%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20-25%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规模化走量，建立市场份额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中端级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中高端乘用车/工商业储能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500-1500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25-35%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35-45%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核心主力，贡献主要营收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高端级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800V平台/AI数据中心/电动重卡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1500-5000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35-50%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50-60%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重点突破，构建技术壁垒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定制级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航空航天/轨道交通/船舶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5000+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50-70%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60-75%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标杆项目，打造品牌溢价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供应链壁垒：垂直整合+精益生产构建成本护城河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成本结构对比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传统线束成本结构：</a:t>
            </a:r>
          </a:p>
          <a:p>
            <a:pPr>
              <a:spcBef>
                <a:spcPts val="300"/>
              </a:spcBef>
              <a:defRPr sz="950"/>
            </a:pPr>
            <a:r>
              <a:t>  铜材 45% | 人工 25% | 绝缘 15% | 其他 15%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IFPCS成本结构：</a:t>
            </a:r>
          </a:p>
          <a:p>
            <a:pPr>
              <a:spcBef>
                <a:spcPts val="300"/>
              </a:spcBef>
              <a:defRPr sz="950"/>
            </a:pPr>
            <a:r>
              <a:t>  铜材 32% | 人工 10% | 绝缘 18% | PCB 20%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IFPCS核心成本优势：</a:t>
            </a:r>
          </a:p>
          <a:p>
            <a:pPr>
              <a:spcBef>
                <a:spcPts val="300"/>
              </a:spcBef>
              <a:defRPr sz="950"/>
            </a:pPr>
            <a:r>
              <a:t>  一体化设计减少原材料用量30%</a:t>
            </a:r>
          </a:p>
          <a:p>
            <a:pPr>
              <a:spcBef>
                <a:spcPts val="300"/>
              </a:spcBef>
              <a:defRPr sz="950"/>
            </a:pPr>
            <a:r>
              <a:t>  全自动化生产降低人工成本60%</a:t>
            </a:r>
          </a:p>
          <a:p>
            <a:pPr>
              <a:spcBef>
                <a:spcPts val="300"/>
              </a:spcBef>
              <a:defRPr sz="950"/>
            </a:pPr>
            <a:r>
              <a:t>  规模化集中采购降原材料成本10-15%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风险应对：</a:t>
            </a:r>
          </a:p>
          <a:p>
            <a:pPr>
              <a:spcBef>
                <a:spcPts val="300"/>
              </a:spcBef>
              <a:defRPr sz="950"/>
            </a:pPr>
            <a:r>
              <a:t>  与江铜/铜陵有色签3年锁价协议</a:t>
            </a:r>
          </a:p>
          <a:p>
            <a:pPr>
              <a:spcBef>
                <a:spcPts val="300"/>
              </a:spcBef>
              <a:defRPr sz="950"/>
            </a:pPr>
            <a:r>
              <a:t>  推进铝代铜技术研发</a:t>
            </a:r>
          </a:p>
          <a:p>
            <a:pPr>
              <a:spcBef>
                <a:spcPts val="300"/>
              </a:spcBef>
              <a:defRPr sz="950"/>
            </a:pPr>
            <a:r>
              <a:t>  建立2-3家备选供应商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供应链全景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上游原材料：</a:t>
            </a:r>
          </a:p>
          <a:p>
            <a:pPr>
              <a:spcBef>
                <a:spcPts val="300"/>
              </a:spcBef>
              <a:defRPr sz="950"/>
            </a:pPr>
            <a:r>
              <a:t>  铜/铝（占IFPCS成本32%）</a:t>
            </a:r>
          </a:p>
          <a:p>
            <a:pPr>
              <a:spcBef>
                <a:spcPts val="300"/>
              </a:spcBef>
              <a:defRPr sz="950"/>
            </a:pPr>
            <a:r>
              <a:t>  绝缘材料（国产替代率已达70%）</a:t>
            </a:r>
          </a:p>
          <a:p>
            <a:pPr>
              <a:spcBef>
                <a:spcPts val="300"/>
              </a:spcBef>
              <a:defRPr sz="950"/>
            </a:pPr>
            <a:r>
              <a:t>  PCB/连接器/氟塑料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核心工艺内制：</a:t>
            </a:r>
          </a:p>
          <a:p>
            <a:pPr>
              <a:spcBef>
                <a:spcPts val="300"/>
              </a:spcBef>
              <a:defRPr sz="950"/>
            </a:pPr>
            <a:r>
              <a:t>  铜排精密成型+热压密封工艺</a:t>
            </a:r>
          </a:p>
          <a:p>
            <a:pPr>
              <a:spcBef>
                <a:spcPts val="300"/>
              </a:spcBef>
              <a:defRPr sz="950"/>
            </a:pPr>
            <a:r>
              <a:t>  自动化组装+在线测试</a:t>
            </a:r>
          </a:p>
          <a:p>
            <a:pPr>
              <a:spcBef>
                <a:spcPts val="300"/>
              </a:spcBef>
              <a:defRPr sz="950"/>
            </a:pPr>
            <a:r>
              <a:t>  质量追溯系统（MES集成）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下游直供客户：</a:t>
            </a:r>
          </a:p>
          <a:p>
            <a:pPr>
              <a:spcBef>
                <a:spcPts val="300"/>
              </a:spcBef>
              <a:defRPr sz="950"/>
            </a:pPr>
            <a:r>
              <a:t>  电芯厂（模组→PACK）</a:t>
            </a:r>
          </a:p>
          <a:p>
            <a:pPr>
              <a:spcBef>
                <a:spcPts val="300"/>
              </a:spcBef>
              <a:defRPr sz="950"/>
            </a:pPr>
            <a:r>
              <a:t>  整车厂（CTP/CTC集成）</a:t>
            </a:r>
          </a:p>
          <a:p>
            <a:pPr>
              <a:spcBef>
                <a:spcPts val="300"/>
              </a:spcBef>
              <a:defRPr sz="950"/>
            </a:pPr>
            <a:r>
              <a:t>  储能厂（集装箱系统）</a:t>
            </a:r>
          </a:p>
          <a:p>
            <a:pPr>
              <a:spcBef>
                <a:spcPts val="300"/>
              </a:spcBef>
              <a:defRPr sz="950"/>
            </a:pPr>
            <a:r>
              <a:t>  数据中心（BBU备电）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价值链分析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上游议价能力：</a:t>
            </a:r>
          </a:p>
          <a:p>
            <a:pPr>
              <a:spcBef>
                <a:spcPts val="300"/>
              </a:spcBef>
              <a:defRPr sz="950"/>
            </a:pPr>
            <a:r>
              <a:t>  铜材集中采购+长协锁价</a:t>
            </a:r>
          </a:p>
          <a:p>
            <a:pPr>
              <a:spcBef>
                <a:spcPts val="300"/>
              </a:spcBef>
              <a:defRPr sz="950"/>
            </a:pPr>
            <a:r>
              <a:t>  绝缘材料国产化，成本可控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中游制造优势：</a:t>
            </a:r>
          </a:p>
          <a:p>
            <a:pPr>
              <a:spcBef>
                <a:spcPts val="300"/>
              </a:spcBef>
              <a:defRPr sz="950"/>
            </a:pPr>
            <a:r>
              <a:t>  全制程自动化，良率99.5%+</a:t>
            </a:r>
          </a:p>
          <a:p>
            <a:pPr>
              <a:spcBef>
                <a:spcPts val="300"/>
              </a:spcBef>
              <a:defRPr sz="950"/>
            </a:pPr>
            <a:r>
              <a:t>  12天样品交付，响应速度领先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下游客户粘性：</a:t>
            </a:r>
          </a:p>
          <a:p>
            <a:pPr>
              <a:spcBef>
                <a:spcPts val="300"/>
              </a:spcBef>
              <a:defRPr sz="950"/>
            </a:pPr>
            <a:r>
              <a:t>  嵌入式合作，共同研发</a:t>
            </a:r>
          </a:p>
          <a:p>
            <a:pPr>
              <a:spcBef>
                <a:spcPts val="300"/>
              </a:spcBef>
              <a:defRPr sz="950"/>
            </a:pPr>
            <a:r>
              <a:t>  全生命周期服务</a:t>
            </a:r>
          </a:p>
          <a:p>
            <a:pPr>
              <a:spcBef>
                <a:spcPts val="300"/>
              </a:spcBef>
              <a:defRPr sz="950"/>
            </a:pPr>
            <a:r>
              <a:t>  换型成本低，锁定客户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竞争格局：外资份额持续下滑，本土技术型企业崛起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121615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20116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竞争梯队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代表企业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核心优势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核心劣势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IFPCS差异化优势</a:t>
                      </a:r>
                    </a:p>
                  </a:txBody>
                  <a:tcPr>
                    <a:solidFill>
                      <a:srgbClr val="0A29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第一梯队(≥14%)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安波福/莱尼(外资)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全球品牌/客户资源/规模效应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响应慢/定制化差/价格高30%+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样品交付快3倍(12天vs36天)/成本低30%/快速适配迭代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第二梯队(5-10%)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汇川/中航光电/巴斯巴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本土客户资源/交付速度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产品线单一/高端市场渗透不足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全赛道覆盖10大赛道/IFPCS集成技术领先一代</a:t>
                      </a:r>
                    </a:p>
                  </a:txBody>
                  <a:tcPr>
                    <a:solidFill>
                      <a:srgbClr val="E3F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900"/>
                      </a:pPr>
                      <a:r>
                        <a:t>第三梯队(&lt;5%)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众多中小厂商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价格极低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无研发能力/质量不稳定/产能不足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全制程自动化/良率99.5%+/核心专利壁垒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1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客户价值：全生命周期成本降低30%以上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新能源汽车（800V车型·年销10万辆）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研发成本：1200万元/车型 → 720万元（节约480万）</a:t>
            </a:r>
          </a:p>
          <a:p>
            <a:pPr>
              <a:spcBef>
                <a:spcPts val="300"/>
              </a:spcBef>
              <a:defRPr sz="950"/>
            </a:pPr>
            <a:r>
              <a:t>制造成本：800元/车 → 600元（节约2000万/年）</a:t>
            </a:r>
          </a:p>
          <a:p>
            <a:pPr>
              <a:spcBef>
                <a:spcPts val="300"/>
              </a:spcBef>
              <a:defRPr sz="950"/>
            </a:pPr>
            <a:r>
              <a:t>维护成本：200元/车 → 80元（节约1200万/年）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单车全生命周期节约：520元</a:t>
            </a:r>
          </a:p>
          <a:p>
            <a:pPr>
              <a:spcBef>
                <a:spcPts val="300"/>
              </a:spcBef>
              <a:defRPr sz="950"/>
            </a:pPr>
            <a:r>
              <a:t>年销10万辆节约总额：3680万元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额外收益：</a:t>
            </a:r>
          </a:p>
          <a:p>
            <a:pPr>
              <a:spcBef>
                <a:spcPts val="300"/>
              </a:spcBef>
              <a:defRPr sz="950"/>
            </a:pPr>
            <a:r>
              <a:t>  电池包能量密度提升5%</a:t>
            </a:r>
          </a:p>
          <a:p>
            <a:pPr>
              <a:spcBef>
                <a:spcPts val="300"/>
              </a:spcBef>
              <a:defRPr sz="950"/>
            </a:pPr>
            <a:r>
              <a:t>  续航增加20km</a:t>
            </a:r>
          </a:p>
          <a:p>
            <a:pPr>
              <a:spcBef>
                <a:spcPts val="300"/>
              </a:spcBef>
              <a:defRPr sz="950"/>
            </a:pPr>
            <a:r>
              <a:t>  整车报废率下降15%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工商业储能（1GWh/年·头部储能厂）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传统方案：120元/kWh，总成本1.2亿元/年</a:t>
            </a:r>
          </a:p>
          <a:p>
            <a:pPr>
              <a:spcBef>
                <a:spcPts val="300"/>
              </a:spcBef>
              <a:defRPr sz="950"/>
            </a:pPr>
            <a:r>
              <a:t>IFPCS方案：85元/kWh，总成本8500万元/年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年节约成本：3500万元</a:t>
            </a:r>
          </a:p>
          <a:p>
            <a:pPr>
              <a:spcBef>
                <a:spcPts val="300"/>
              </a:spcBef>
              <a:defRPr sz="950"/>
            </a:pPr>
            <a:r>
              <a:t>安装效率提升：50%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额外收益：</a:t>
            </a:r>
          </a:p>
          <a:p>
            <a:pPr>
              <a:spcBef>
                <a:spcPts val="300"/>
              </a:spcBef>
              <a:defRPr sz="950"/>
            </a:pPr>
            <a:r>
              <a:t>  集装箱空间节约15%</a:t>
            </a:r>
          </a:p>
          <a:p>
            <a:pPr>
              <a:spcBef>
                <a:spcPts val="300"/>
              </a:spcBef>
              <a:defRPr sz="950"/>
            </a:pPr>
            <a:r>
              <a:t>  调试周期缩短30%</a:t>
            </a:r>
          </a:p>
          <a:p>
            <a:pPr>
              <a:spcBef>
                <a:spcPts val="300"/>
              </a:spcBef>
              <a:defRPr sz="950"/>
            </a:pPr>
            <a:r>
              <a:t>  系统可靠性提升，质保成本下降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960120"/>
            <a:ext cx="3657600" cy="457200"/>
          </a:xfrm>
          <a:prstGeom prst="rect">
            <a:avLst/>
          </a:prstGeom>
          <a:solidFill>
            <a:srgbClr val="1A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005840"/>
            <a:ext cx="3611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AI数据中心（1000柜·大型IDC）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463040"/>
            <a:ext cx="365760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554480"/>
            <a:ext cx="3520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950"/>
            </a:pPr>
            <a:r>
              <a:t>传统方案故障损失：</a:t>
            </a:r>
          </a:p>
          <a:p>
            <a:pPr>
              <a:spcBef>
                <a:spcPts val="300"/>
              </a:spcBef>
              <a:defRPr sz="950"/>
            </a:pPr>
            <a:r>
              <a:t>  单点故障平均停机4小时</a:t>
            </a:r>
          </a:p>
          <a:p>
            <a:pPr>
              <a:spcBef>
                <a:spcPts val="300"/>
              </a:spcBef>
              <a:defRPr sz="950"/>
            </a:pPr>
            <a:r>
              <a:t>  损失超400万元/次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IFPCS方案：</a:t>
            </a:r>
          </a:p>
          <a:p>
            <a:pPr>
              <a:spcBef>
                <a:spcPts val="300"/>
              </a:spcBef>
              <a:defRPr sz="950"/>
            </a:pPr>
            <a:r>
              <a:t>  故障风险降低90%</a:t>
            </a:r>
          </a:p>
          <a:p>
            <a:pPr>
              <a:spcBef>
                <a:spcPts val="300"/>
              </a:spcBef>
              <a:defRPr sz="950"/>
            </a:pPr>
            <a:r>
              <a:t>  年减少损失超3000万元</a:t>
            </a:r>
          </a:p>
          <a:p>
            <a:pPr>
              <a:spcBef>
                <a:spcPts val="300"/>
              </a:spcBef>
              <a:defRPr sz="950"/>
            </a:pPr>
          </a:p>
          <a:p>
            <a:pPr>
              <a:spcBef>
                <a:spcPts val="300"/>
              </a:spcBef>
              <a:defRPr sz="950"/>
            </a:pPr>
            <a:r>
              <a:t>额外收益：</a:t>
            </a:r>
          </a:p>
          <a:p>
            <a:pPr>
              <a:spcBef>
                <a:spcPts val="300"/>
              </a:spcBef>
              <a:defRPr sz="950"/>
            </a:pPr>
            <a:r>
              <a:t>  备电响应时间&lt;10ms</a:t>
            </a:r>
          </a:p>
          <a:p>
            <a:pPr>
              <a:spcBef>
                <a:spcPts val="300"/>
              </a:spcBef>
              <a:defRPr sz="950"/>
            </a:pPr>
            <a:r>
              <a:t>  BBU系统体积减少30%</a:t>
            </a:r>
          </a:p>
          <a:p>
            <a:pPr>
              <a:spcBef>
                <a:spcPts val="300"/>
              </a:spcBef>
              <a:defRPr sz="950"/>
            </a:pPr>
            <a:r>
              <a:t>  全天候智能监控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谢谢聆听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D700"/>
                </a:solidFill>
              </a:defRPr>
            </a:pPr>
            <a:r>
              <a:t>THANK YOU FOR YOUR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788AA"/>
                </a:solidFill>
              </a:defRPr>
            </a:pPr>
            <a:r>
              <a:t>智能融合电力连接系统（IFPCS）综合商业计划书  |  2026年4月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